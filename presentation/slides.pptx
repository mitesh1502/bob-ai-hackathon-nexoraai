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242F"/>
        </a:solidFill>
      </p:bgPr>
    </p:bg>
    <p:spTree>
      <p:nvGrpSpPr>
        <p:cNvPr id="1" name=""/>
        <p:cNvGrpSpPr/>
        <p:nvPr/>
      </p:nvGrpSpPr>
      <p:grpSpPr>
        <a:xfrm>
          <a:off x="0" y="0"/>
          <a:ext cx="0" cy="0"/>
          <a:chOff x="0" y="0"/>
          <a:chExt cx="0" cy="0"/>
        </a:xfrm>
      </p:grpSpPr>
      <p:sp>
        <p:nvSpPr>
          <p:cNvPr id="2" name="Shape 0"/>
          <p:cNvSpPr/>
          <p:nvPr/>
        </p:nvSpPr>
        <p:spPr>
          <a:xfrm rot="1080000">
            <a:off x="7863840" y="-274320"/>
            <a:ext cx="0" cy="7406640"/>
          </a:xfrm>
          <a:prstGeom prst="line">
            <a:avLst/>
          </a:prstGeom>
          <a:noFill/>
          <a:ln w="12700">
            <a:solidFill>
              <a:srgbClr val="2E4152"/>
            </a:solidFill>
            <a:prstDash val="solid"/>
          </a:ln>
        </p:spPr>
      </p:sp>
      <p:sp>
        <p:nvSpPr>
          <p:cNvPr id="3" name="Shape 1"/>
          <p:cNvSpPr/>
          <p:nvPr/>
        </p:nvSpPr>
        <p:spPr>
          <a:xfrm rot="1080000">
            <a:off x="8641080" y="-274320"/>
            <a:ext cx="0" cy="7406640"/>
          </a:xfrm>
          <a:prstGeom prst="line">
            <a:avLst/>
          </a:prstGeom>
          <a:noFill/>
          <a:ln w="12700">
            <a:solidFill>
              <a:srgbClr val="2E4152"/>
            </a:solidFill>
            <a:prstDash val="solid"/>
          </a:ln>
        </p:spPr>
      </p:sp>
      <p:sp>
        <p:nvSpPr>
          <p:cNvPr id="4" name="Shape 2"/>
          <p:cNvSpPr/>
          <p:nvPr/>
        </p:nvSpPr>
        <p:spPr>
          <a:xfrm rot="1080000">
            <a:off x="9418320" y="-274320"/>
            <a:ext cx="0" cy="7406640"/>
          </a:xfrm>
          <a:prstGeom prst="line">
            <a:avLst/>
          </a:prstGeom>
          <a:noFill/>
          <a:ln w="12700">
            <a:solidFill>
              <a:srgbClr val="2E4152"/>
            </a:solidFill>
            <a:prstDash val="solid"/>
          </a:ln>
        </p:spPr>
      </p:sp>
      <p:sp>
        <p:nvSpPr>
          <p:cNvPr id="5" name="Shape 3"/>
          <p:cNvSpPr/>
          <p:nvPr/>
        </p:nvSpPr>
        <p:spPr>
          <a:xfrm rot="1080000">
            <a:off x="10195560" y="-274320"/>
            <a:ext cx="0" cy="7406640"/>
          </a:xfrm>
          <a:prstGeom prst="line">
            <a:avLst/>
          </a:prstGeom>
          <a:noFill/>
          <a:ln w="12700">
            <a:solidFill>
              <a:srgbClr val="2E4152"/>
            </a:solidFill>
            <a:prstDash val="solid"/>
          </a:ln>
        </p:spPr>
      </p:sp>
      <p:sp>
        <p:nvSpPr>
          <p:cNvPr id="6" name="Shape 4"/>
          <p:cNvSpPr/>
          <p:nvPr/>
        </p:nvSpPr>
        <p:spPr>
          <a:xfrm rot="1080000">
            <a:off x="10972800" y="-274320"/>
            <a:ext cx="0" cy="7406640"/>
          </a:xfrm>
          <a:prstGeom prst="line">
            <a:avLst/>
          </a:prstGeom>
          <a:noFill/>
          <a:ln w="12700">
            <a:solidFill>
              <a:srgbClr val="2E4152"/>
            </a:solidFill>
            <a:prstDash val="solid"/>
          </a:ln>
        </p:spPr>
      </p:sp>
      <p:sp>
        <p:nvSpPr>
          <p:cNvPr id="7" name="Shape 5"/>
          <p:cNvSpPr/>
          <p:nvPr/>
        </p:nvSpPr>
        <p:spPr>
          <a:xfrm rot="1080000">
            <a:off x="11750040" y="-274320"/>
            <a:ext cx="0" cy="7406640"/>
          </a:xfrm>
          <a:prstGeom prst="line">
            <a:avLst/>
          </a:prstGeom>
          <a:noFill/>
          <a:ln w="12700">
            <a:solidFill>
              <a:srgbClr val="2E4152"/>
            </a:solidFill>
            <a:prstDash val="solid"/>
          </a:ln>
        </p:spPr>
      </p:sp>
      <p:sp>
        <p:nvSpPr>
          <p:cNvPr id="8" name="Shape 6"/>
          <p:cNvSpPr/>
          <p:nvPr/>
        </p:nvSpPr>
        <p:spPr>
          <a:xfrm>
            <a:off x="11475720" y="502920"/>
            <a:ext cx="128016" cy="128016"/>
          </a:xfrm>
          <a:prstGeom prst="ellipse">
            <a:avLst/>
          </a:prstGeom>
          <a:solidFill>
            <a:srgbClr val="F5A623"/>
          </a:solidFill>
          <a:ln/>
        </p:spPr>
      </p:sp>
      <p:sp>
        <p:nvSpPr>
          <p:cNvPr id="9" name="Text 7"/>
          <p:cNvSpPr txBox="1"/>
          <p:nvPr/>
        </p:nvSpPr>
        <p:spPr>
          <a:xfrm>
            <a:off x="640080" y="640080"/>
            <a:ext cx="8686800" cy="320040"/>
          </a:xfrm>
          <a:prstGeom prst="rect">
            <a:avLst/>
          </a:prstGeom>
          <a:noFill/>
          <a:ln/>
        </p:spPr>
        <p:txBody>
          <a:bodyPr wrap="square" lIns="0" tIns="0" rIns="0" bIns="0" rtlCol="0" anchor="ctr"/>
          <a:lstStyle/>
          <a:p>
            <a:pPr indent="0" marL="0">
              <a:buNone/>
            </a:pPr>
            <a:r>
              <a:rPr lang="en-US" sz="1300" b="1" spc="150" kern="0" dirty="0">
                <a:solidFill>
                  <a:srgbClr val="F5A623"/>
                </a:solidFill>
                <a:latin typeface="Calibri" pitchFamily="34" charset="0"/>
                <a:ea typeface="Calibri" pitchFamily="34" charset="-122"/>
                <a:cs typeface="Calibri" pitchFamily="34" charset="-120"/>
              </a:rPr>
              <a:t>U1 · UTILITIES — POWER, ENERGY, TRANSMISSION &amp; DISTRIBUTION</a:t>
            </a:r>
            <a:endParaRPr lang="en-US" sz="1300" dirty="0"/>
          </a:p>
        </p:txBody>
      </p:sp>
      <p:sp>
        <p:nvSpPr>
          <p:cNvPr id="10" name="Shape 8"/>
          <p:cNvSpPr/>
          <p:nvPr/>
        </p:nvSpPr>
        <p:spPr>
          <a:xfrm>
            <a:off x="640080" y="1051560"/>
            <a:ext cx="1691640" cy="310896"/>
          </a:xfrm>
          <a:prstGeom prst="roundRect">
            <a:avLst>
              <a:gd name="adj" fmla="val 50000"/>
            </a:avLst>
          </a:prstGeom>
          <a:solidFill>
            <a:srgbClr val="2A3D4D"/>
          </a:solidFill>
          <a:ln/>
        </p:spPr>
      </p:sp>
      <p:sp>
        <p:nvSpPr>
          <p:cNvPr id="11" name="Text 9"/>
          <p:cNvSpPr txBox="1"/>
          <p:nvPr/>
        </p:nvSpPr>
        <p:spPr>
          <a:xfrm>
            <a:off x="640080" y="1051560"/>
            <a:ext cx="1691640" cy="310896"/>
          </a:xfrm>
          <a:prstGeom prst="rect">
            <a:avLst/>
          </a:prstGeom>
          <a:noFill/>
          <a:ln/>
        </p:spPr>
        <p:txBody>
          <a:bodyPr wrap="square" lIns="0" tIns="0" rIns="0" bIns="0" rtlCol="0" anchor="ctr"/>
          <a:lstStyle/>
          <a:p>
            <a:pPr algn="ctr" indent="0" marL="0">
              <a:buNone/>
            </a:pPr>
            <a:r>
              <a:rPr lang="en-US" sz="1050" b="1" dirty="0">
                <a:solidFill>
                  <a:srgbClr val="FF8A80"/>
                </a:solidFill>
                <a:latin typeface="Calibri" pitchFamily="34" charset="0"/>
                <a:ea typeface="Calibri" pitchFamily="34" charset="-122"/>
                <a:cs typeface="Calibri" pitchFamily="34" charset="-120"/>
              </a:rPr>
              <a:t>CRITICAL NOW</a:t>
            </a:r>
            <a:endParaRPr lang="en-US" sz="1050" dirty="0"/>
          </a:p>
        </p:txBody>
      </p:sp>
      <p:sp>
        <p:nvSpPr>
          <p:cNvPr id="12" name="Text 10"/>
          <p:cNvSpPr txBox="1"/>
          <p:nvPr/>
        </p:nvSpPr>
        <p:spPr>
          <a:xfrm>
            <a:off x="594360" y="2286000"/>
            <a:ext cx="9601200" cy="1371600"/>
          </a:xfrm>
          <a:prstGeom prst="rect">
            <a:avLst/>
          </a:prstGeom>
          <a:noFill/>
          <a:ln/>
        </p:spPr>
        <p:txBody>
          <a:bodyPr wrap="square" lIns="0" tIns="0" rIns="0" bIns="0" rtlCol="0" anchor="ctr"/>
          <a:lstStyle/>
          <a:p>
            <a:pPr indent="0" marL="0">
              <a:buNone/>
            </a:pPr>
            <a:r>
              <a:rPr lang="en-US" sz="6400" b="1" dirty="0">
                <a:solidFill>
                  <a:srgbClr val="FFFFFF"/>
                </a:solidFill>
                <a:latin typeface="Cambria" pitchFamily="34" charset="0"/>
                <a:ea typeface="Cambria" pitchFamily="34" charset="-122"/>
                <a:cs typeface="Cambria" pitchFamily="34" charset="-120"/>
              </a:rPr>
              <a:t>NEXORA AI</a:t>
            </a:r>
            <a:endParaRPr lang="en-US" sz="6400" dirty="0"/>
          </a:p>
        </p:txBody>
      </p:sp>
      <p:sp>
        <p:nvSpPr>
          <p:cNvPr id="13" name="Text 11"/>
          <p:cNvSpPr txBox="1"/>
          <p:nvPr/>
        </p:nvSpPr>
        <p:spPr>
          <a:xfrm>
            <a:off x="640080" y="3520440"/>
            <a:ext cx="8778240" cy="502920"/>
          </a:xfrm>
          <a:prstGeom prst="rect">
            <a:avLst/>
          </a:prstGeom>
          <a:noFill/>
          <a:ln/>
        </p:spPr>
        <p:txBody>
          <a:bodyPr wrap="square" lIns="0" tIns="0" rIns="0" bIns="0" rtlCol="0" anchor="ctr"/>
          <a:lstStyle/>
          <a:p>
            <a:pPr indent="0" marL="0">
              <a:buNone/>
            </a:pPr>
            <a:r>
              <a:rPr lang="en-US" sz="2000" dirty="0">
                <a:solidFill>
                  <a:srgbClr val="CFE0EA"/>
                </a:solidFill>
                <a:latin typeface="Calibri" pitchFamily="34" charset="0"/>
                <a:ea typeface="Calibri" pitchFamily="34" charset="-122"/>
                <a:cs typeface="Calibri" pitchFamily="34" charset="-120"/>
              </a:rPr>
              <a:t>Power Outage Prediction &amp; Grid Equipment Failure Advisor</a:t>
            </a:r>
            <a:endParaRPr lang="en-US" sz="2000" dirty="0"/>
          </a:p>
        </p:txBody>
      </p:sp>
      <p:sp>
        <p:nvSpPr>
          <p:cNvPr id="14" name="Text 12"/>
          <p:cNvSpPr txBox="1"/>
          <p:nvPr/>
        </p:nvSpPr>
        <p:spPr>
          <a:xfrm>
            <a:off x="640080" y="4114800"/>
            <a:ext cx="7863840" cy="731520"/>
          </a:xfrm>
          <a:prstGeom prst="rect">
            <a:avLst/>
          </a:prstGeom>
          <a:noFill/>
          <a:ln/>
        </p:spPr>
        <p:txBody>
          <a:bodyPr wrap="square" lIns="0" tIns="0" rIns="0" bIns="0" rtlCol="0" anchor="ctr"/>
          <a:lstStyle/>
          <a:p>
            <a:pPr indent="0" marL="0">
              <a:lnSpc>
                <a:spcPct val="125000"/>
              </a:lnSpc>
              <a:buNone/>
            </a:pPr>
            <a:r>
              <a:rPr lang="en-US" sz="1350" dirty="0">
                <a:solidFill>
                  <a:srgbClr val="9FB1BE"/>
                </a:solidFill>
                <a:latin typeface="Calibri" pitchFamily="34" charset="0"/>
                <a:ea typeface="Calibri" pitchFamily="34" charset="-122"/>
                <a:cs typeface="Calibri" pitchFamily="34" charset="-120"/>
              </a:rPr>
              <a:t>An explainable AI copilot that fuses sensor health data, weather forecasts, and field reports to predict outages before they happen — and keeps a human in the loop on every decision.</a:t>
            </a:r>
            <a:endParaRPr lang="en-US" sz="1350" dirty="0"/>
          </a:p>
        </p:txBody>
      </p:sp>
      <p:sp>
        <p:nvSpPr>
          <p:cNvPr id="15" name="Shape 13"/>
          <p:cNvSpPr/>
          <p:nvPr/>
        </p:nvSpPr>
        <p:spPr>
          <a:xfrm>
            <a:off x="640080" y="5989320"/>
            <a:ext cx="10881360" cy="0"/>
          </a:xfrm>
          <a:prstGeom prst="line">
            <a:avLst/>
          </a:prstGeom>
          <a:noFill/>
          <a:ln w="12700">
            <a:solidFill>
              <a:srgbClr val="334654"/>
            </a:solidFill>
            <a:prstDash val="solid"/>
          </a:ln>
        </p:spPr>
      </p:sp>
      <p:sp>
        <p:nvSpPr>
          <p:cNvPr id="16" name="Text 14"/>
          <p:cNvSpPr txBox="1"/>
          <p:nvPr/>
        </p:nvSpPr>
        <p:spPr>
          <a:xfrm>
            <a:off x="640080" y="6144768"/>
            <a:ext cx="8229600" cy="365760"/>
          </a:xfrm>
          <a:prstGeom prst="rect">
            <a:avLst/>
          </a:prstGeom>
          <a:noFill/>
          <a:ln/>
        </p:spPr>
        <p:txBody>
          <a:bodyPr wrap="square" lIns="0" tIns="0" rIns="0" bIns="0" rtlCol="0" anchor="ctr"/>
          <a:lstStyle/>
          <a:p>
            <a:pPr indent="0" marL="0">
              <a:buNone/>
            </a:pPr>
            <a:r>
              <a:rPr lang="en-US" sz="1200" i="1" dirty="0">
                <a:solidFill>
                  <a:srgbClr val="8592A0"/>
                </a:solidFill>
                <a:latin typeface="Calibri" pitchFamily="34" charset="0"/>
                <a:ea typeface="Calibri" pitchFamily="34" charset="-122"/>
                <a:cs typeface="Calibri" pitchFamily="34" charset="-120"/>
              </a:rPr>
              <a:t>Built for the 2026 Industry Problem Statements challenge  ·  Powered by IBM Bob</a:t>
            </a:r>
            <a:endParaRPr lang="en-US" sz="1200" dirty="0"/>
          </a:p>
        </p:txBody>
      </p:sp>
      <p:sp>
        <p:nvSpPr>
          <p:cNvPr id="17" name="Text 15"/>
          <p:cNvSpPr txBox="1"/>
          <p:nvPr/>
        </p:nvSpPr>
        <p:spPr>
          <a:xfrm>
            <a:off x="9052560" y="6144768"/>
            <a:ext cx="2468880" cy="365760"/>
          </a:xfrm>
          <a:prstGeom prst="rect">
            <a:avLst/>
          </a:prstGeom>
          <a:noFill/>
          <a:ln/>
        </p:spPr>
        <p:txBody>
          <a:bodyPr wrap="square" lIns="0" tIns="0" rIns="0" bIns="0"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[Team Name]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250" b="1" spc="200" kern="0" dirty="0">
                <a:solidFill>
                  <a:srgbClr val="F5A623"/>
                </a:solidFill>
                <a:latin typeface="Calibri" pitchFamily="34" charset="0"/>
                <a:ea typeface="Calibri" pitchFamily="34" charset="-122"/>
                <a:cs typeface="Calibri" pitchFamily="34" charset="-120"/>
              </a:rPr>
              <a:t>THE PROBLEM</a:t>
            </a:r>
            <a:endParaRPr lang="en-US" sz="1250" dirty="0"/>
          </a:p>
        </p:txBody>
      </p:sp>
      <p:sp>
        <p:nvSpPr>
          <p:cNvPr id="3" name="Text 1"/>
          <p:cNvSpPr txBox="1"/>
          <p:nvPr/>
        </p:nvSpPr>
        <p:spPr>
          <a:xfrm>
            <a:off x="548640" y="713232"/>
            <a:ext cx="8229600" cy="731520"/>
          </a:xfrm>
          <a:prstGeom prst="rect">
            <a:avLst/>
          </a:prstGeom>
          <a:noFill/>
          <a:ln/>
        </p:spPr>
        <p:txBody>
          <a:bodyPr wrap="square" lIns="0" tIns="0" rIns="0" bIns="0" rtlCol="0" anchor="ctr"/>
          <a:lstStyle/>
          <a:p>
            <a:pPr indent="0" marL="0">
              <a:buNone/>
            </a:pPr>
            <a:r>
              <a:rPr lang="en-US" sz="3200" b="1" dirty="0">
                <a:solidFill>
                  <a:srgbClr val="1B2A38"/>
                </a:solidFill>
                <a:latin typeface="Cambria" pitchFamily="34" charset="0"/>
                <a:ea typeface="Cambria" pitchFamily="34" charset="-122"/>
                <a:cs typeface="Cambria" pitchFamily="34" charset="-120"/>
              </a:rPr>
              <a:t>Grid failures are still handled reactively</a:t>
            </a:r>
            <a:endParaRPr lang="en-US" sz="3200" dirty="0"/>
          </a:p>
        </p:txBody>
      </p:sp>
      <p:sp>
        <p:nvSpPr>
          <p:cNvPr id="4" name="Text 2"/>
          <p:cNvSpPr txBox="1"/>
          <p:nvPr/>
        </p:nvSpPr>
        <p:spPr>
          <a:xfrm>
            <a:off x="548640" y="1508760"/>
            <a:ext cx="5943600" cy="1554480"/>
          </a:xfrm>
          <a:prstGeom prst="rect">
            <a:avLst/>
          </a:prstGeom>
          <a:noFill/>
          <a:ln/>
        </p:spPr>
        <p:txBody>
          <a:bodyPr wrap="square" lIns="0" tIns="0" rIns="0" bIns="0" rtlCol="0" anchor="ctr"/>
          <a:lstStyle/>
          <a:p>
            <a:pPr indent="0" marL="0">
              <a:lnSpc>
                <a:spcPct val="130000"/>
              </a:lnSpc>
              <a:buNone/>
            </a:pPr>
            <a:r>
              <a:rPr lang="en-US" sz="1350" dirty="0">
                <a:solidFill>
                  <a:srgbClr val="62727C"/>
                </a:solidFill>
                <a:latin typeface="Calibri" pitchFamily="34" charset="0"/>
                <a:ea typeface="Calibri" pitchFamily="34" charset="-122"/>
                <a:cs typeface="Calibri" pitchFamily="34" charset="-120"/>
              </a:rPr>
              <a:t>Transformer and substation failures cause blackouts that cost utilities $1M+ per hour and affect millions of people. Most utilities still run maintenance on fixed calendars — while sensors already measuring temperature, vibration, partial discharge, and oil quality show failure signatures weeks in advance.</a:t>
            </a:r>
            <a:endParaRPr lang="en-US" sz="1350" dirty="0"/>
          </a:p>
        </p:txBody>
      </p:sp>
      <p:sp>
        <p:nvSpPr>
          <p:cNvPr id="5" name="Shape 3"/>
          <p:cNvSpPr/>
          <p:nvPr/>
        </p:nvSpPr>
        <p:spPr>
          <a:xfrm>
            <a:off x="548640" y="3246120"/>
            <a:ext cx="502920" cy="502920"/>
          </a:xfrm>
          <a:prstGeom prst="ellipse">
            <a:avLst/>
          </a:prstGeom>
          <a:solidFill>
            <a:srgbClr val="FDEBD0"/>
          </a:solidFill>
          <a:ln/>
        </p:spPr>
      </p:sp>
      <p:sp>
        <p:nvSpPr>
          <p:cNvPr id="6" name="Text 4"/>
          <p:cNvSpPr txBox="1"/>
          <p:nvPr/>
        </p:nvSpPr>
        <p:spPr>
          <a:xfrm>
            <a:off x="548640" y="3227832"/>
            <a:ext cx="502920" cy="502920"/>
          </a:xfrm>
          <a:prstGeom prst="rect">
            <a:avLst/>
          </a:prstGeom>
          <a:noFill/>
          <a:ln/>
        </p:spPr>
        <p:txBody>
          <a:bodyPr wrap="square" lIns="0" tIns="0" rIns="0" bIns="0" rtlCol="0" anchor="ctr"/>
          <a:lstStyle/>
          <a:p>
            <a:pPr algn="ctr" indent="0" marL="0">
              <a:buNone/>
            </a:pPr>
            <a:r>
              <a:rPr lang="en-US" sz="1430" dirty="0">
                <a:solidFill>
                  <a:srgbClr val="000000"/>
                </a:solidFill>
              </a:rPr>
              <a:t>📅</a:t>
            </a:r>
            <a:endParaRPr lang="en-US" sz="1430" dirty="0"/>
          </a:p>
        </p:txBody>
      </p:sp>
      <p:sp>
        <p:nvSpPr>
          <p:cNvPr id="7" name="Text 5"/>
          <p:cNvSpPr txBox="1"/>
          <p:nvPr/>
        </p:nvSpPr>
        <p:spPr>
          <a:xfrm>
            <a:off x="1234440" y="3227832"/>
            <a:ext cx="5257800" cy="320040"/>
          </a:xfrm>
          <a:prstGeom prst="rect">
            <a:avLst/>
          </a:prstGeom>
          <a:noFill/>
          <a:ln/>
        </p:spPr>
        <p:txBody>
          <a:bodyPr wrap="square" lIns="0" tIns="0" rIns="0" bIns="0" rtlCol="0" anchor="ctr"/>
          <a:lstStyle/>
          <a:p>
            <a:pPr indent="0" marL="0">
              <a:buNone/>
            </a:pPr>
            <a:r>
              <a:rPr lang="en-US" sz="1400" b="1" dirty="0">
                <a:solidFill>
                  <a:srgbClr val="1B2A38"/>
                </a:solidFill>
                <a:latin typeface="Calibri" pitchFamily="34" charset="0"/>
                <a:ea typeface="Calibri" pitchFamily="34" charset="-122"/>
                <a:cs typeface="Calibri" pitchFamily="34" charset="-120"/>
              </a:rPr>
              <a:t>Calendar-based maintenance</a:t>
            </a:r>
            <a:endParaRPr lang="en-US" sz="1400" dirty="0"/>
          </a:p>
        </p:txBody>
      </p:sp>
      <p:sp>
        <p:nvSpPr>
          <p:cNvPr id="8" name="Text 6"/>
          <p:cNvSpPr txBox="1"/>
          <p:nvPr/>
        </p:nvSpPr>
        <p:spPr>
          <a:xfrm>
            <a:off x="1234440" y="3538728"/>
            <a:ext cx="5257800" cy="457200"/>
          </a:xfrm>
          <a:prstGeom prst="rect">
            <a:avLst/>
          </a:prstGeom>
          <a:noFill/>
          <a:ln/>
        </p:spPr>
        <p:txBody>
          <a:bodyPr wrap="square" lIns="0" tIns="0" rIns="0" bIns="0" rtlCol="0" anchor="ctr"/>
          <a:lstStyle/>
          <a:p>
            <a:pPr indent="0" marL="0">
              <a:buNone/>
            </a:pPr>
            <a:r>
              <a:rPr lang="en-US" sz="1150" dirty="0">
                <a:solidFill>
                  <a:srgbClr val="62727C"/>
                </a:solidFill>
                <a:latin typeface="Calibri" pitchFamily="34" charset="0"/>
                <a:ea typeface="Calibri" pitchFamily="34" charset="-122"/>
                <a:cs typeface="Calibri" pitchFamily="34" charset="-120"/>
              </a:rPr>
              <a:t>Assets get serviced on a schedule, not on real condition.</a:t>
            </a:r>
            <a:endParaRPr lang="en-US" sz="1150" dirty="0"/>
          </a:p>
        </p:txBody>
      </p:sp>
      <p:sp>
        <p:nvSpPr>
          <p:cNvPr id="9" name="Shape 7"/>
          <p:cNvSpPr/>
          <p:nvPr/>
        </p:nvSpPr>
        <p:spPr>
          <a:xfrm>
            <a:off x="548640" y="4206240"/>
            <a:ext cx="502920" cy="502920"/>
          </a:xfrm>
          <a:prstGeom prst="ellipse">
            <a:avLst/>
          </a:prstGeom>
          <a:solidFill>
            <a:srgbClr val="FDEBD0"/>
          </a:solidFill>
          <a:ln/>
        </p:spPr>
      </p:sp>
      <p:sp>
        <p:nvSpPr>
          <p:cNvPr id="10" name="Text 8"/>
          <p:cNvSpPr txBox="1"/>
          <p:nvPr/>
        </p:nvSpPr>
        <p:spPr>
          <a:xfrm>
            <a:off x="548640" y="4187952"/>
            <a:ext cx="502920" cy="502920"/>
          </a:xfrm>
          <a:prstGeom prst="rect">
            <a:avLst/>
          </a:prstGeom>
          <a:noFill/>
          <a:ln/>
        </p:spPr>
        <p:txBody>
          <a:bodyPr wrap="square" lIns="0" tIns="0" rIns="0" bIns="0" rtlCol="0" anchor="ctr"/>
          <a:lstStyle/>
          <a:p>
            <a:pPr algn="ctr" indent="0" marL="0">
              <a:buNone/>
            </a:pPr>
            <a:r>
              <a:rPr lang="en-US" sz="1430" dirty="0">
                <a:solidFill>
                  <a:srgbClr val="000000"/>
                </a:solidFill>
              </a:rPr>
              <a:t>📡</a:t>
            </a:r>
            <a:endParaRPr lang="en-US" sz="1430" dirty="0"/>
          </a:p>
        </p:txBody>
      </p:sp>
      <p:sp>
        <p:nvSpPr>
          <p:cNvPr id="11" name="Text 9"/>
          <p:cNvSpPr txBox="1"/>
          <p:nvPr/>
        </p:nvSpPr>
        <p:spPr>
          <a:xfrm>
            <a:off x="1234440" y="4187952"/>
            <a:ext cx="5257800" cy="320040"/>
          </a:xfrm>
          <a:prstGeom prst="rect">
            <a:avLst/>
          </a:prstGeom>
          <a:noFill/>
          <a:ln/>
        </p:spPr>
        <p:txBody>
          <a:bodyPr wrap="square" lIns="0" tIns="0" rIns="0" bIns="0" rtlCol="0" anchor="ctr"/>
          <a:lstStyle/>
          <a:p>
            <a:pPr indent="0" marL="0">
              <a:buNone/>
            </a:pPr>
            <a:r>
              <a:rPr lang="en-US" sz="1400" b="1" dirty="0">
                <a:solidFill>
                  <a:srgbClr val="1B2A38"/>
                </a:solidFill>
                <a:latin typeface="Calibri" pitchFamily="34" charset="0"/>
                <a:ea typeface="Calibri" pitchFamily="34" charset="-122"/>
                <a:cs typeface="Calibri" pitchFamily="34" charset="-120"/>
              </a:rPr>
              <a:t>Sensor data sits unused</a:t>
            </a:r>
            <a:endParaRPr lang="en-US" sz="1400" dirty="0"/>
          </a:p>
        </p:txBody>
      </p:sp>
      <p:sp>
        <p:nvSpPr>
          <p:cNvPr id="12" name="Text 10"/>
          <p:cNvSpPr txBox="1"/>
          <p:nvPr/>
        </p:nvSpPr>
        <p:spPr>
          <a:xfrm>
            <a:off x="1234440" y="4498848"/>
            <a:ext cx="5257800" cy="457200"/>
          </a:xfrm>
          <a:prstGeom prst="rect">
            <a:avLst/>
          </a:prstGeom>
          <a:noFill/>
          <a:ln/>
        </p:spPr>
        <p:txBody>
          <a:bodyPr wrap="square" lIns="0" tIns="0" rIns="0" bIns="0" rtlCol="0" anchor="ctr"/>
          <a:lstStyle/>
          <a:p>
            <a:pPr indent="0" marL="0">
              <a:buNone/>
            </a:pPr>
            <a:r>
              <a:rPr lang="en-US" sz="1150" dirty="0">
                <a:solidFill>
                  <a:srgbClr val="62727C"/>
                </a:solidFill>
                <a:latin typeface="Calibri" pitchFamily="34" charset="0"/>
                <a:ea typeface="Calibri" pitchFamily="34" charset="-122"/>
                <a:cs typeface="Calibri" pitchFamily="34" charset="-120"/>
              </a:rPr>
              <a:t>Temperature, vibration &amp; oil-quality signals aren't analysed in time.</a:t>
            </a:r>
            <a:endParaRPr lang="en-US" sz="1150" dirty="0"/>
          </a:p>
        </p:txBody>
      </p:sp>
      <p:sp>
        <p:nvSpPr>
          <p:cNvPr id="13" name="Shape 11"/>
          <p:cNvSpPr/>
          <p:nvPr/>
        </p:nvSpPr>
        <p:spPr>
          <a:xfrm>
            <a:off x="548640" y="5166360"/>
            <a:ext cx="502920" cy="502920"/>
          </a:xfrm>
          <a:prstGeom prst="ellipse">
            <a:avLst/>
          </a:prstGeom>
          <a:solidFill>
            <a:srgbClr val="FDEBD0"/>
          </a:solidFill>
          <a:ln/>
        </p:spPr>
      </p:sp>
      <p:sp>
        <p:nvSpPr>
          <p:cNvPr id="14" name="Text 12"/>
          <p:cNvSpPr txBox="1"/>
          <p:nvPr/>
        </p:nvSpPr>
        <p:spPr>
          <a:xfrm>
            <a:off x="548640" y="5148072"/>
            <a:ext cx="502920" cy="502920"/>
          </a:xfrm>
          <a:prstGeom prst="rect">
            <a:avLst/>
          </a:prstGeom>
          <a:noFill/>
          <a:ln/>
        </p:spPr>
        <p:txBody>
          <a:bodyPr wrap="square" lIns="0" tIns="0" rIns="0" bIns="0" rtlCol="0" anchor="ctr"/>
          <a:lstStyle/>
          <a:p>
            <a:pPr algn="ctr" indent="0" marL="0">
              <a:buNone/>
            </a:pPr>
            <a:r>
              <a:rPr lang="en-US" sz="1430" dirty="0">
                <a:solidFill>
                  <a:srgbClr val="000000"/>
                </a:solidFill>
              </a:rPr>
              <a:t>🌩️</a:t>
            </a:r>
            <a:endParaRPr lang="en-US" sz="1430" dirty="0"/>
          </a:p>
        </p:txBody>
      </p:sp>
      <p:sp>
        <p:nvSpPr>
          <p:cNvPr id="15" name="Text 13"/>
          <p:cNvSpPr txBox="1"/>
          <p:nvPr/>
        </p:nvSpPr>
        <p:spPr>
          <a:xfrm>
            <a:off x="1234440" y="5148072"/>
            <a:ext cx="5257800" cy="320040"/>
          </a:xfrm>
          <a:prstGeom prst="rect">
            <a:avLst/>
          </a:prstGeom>
          <a:noFill/>
          <a:ln/>
        </p:spPr>
        <p:txBody>
          <a:bodyPr wrap="square" lIns="0" tIns="0" rIns="0" bIns="0" rtlCol="0" anchor="ctr"/>
          <a:lstStyle/>
          <a:p>
            <a:pPr indent="0" marL="0">
              <a:buNone/>
            </a:pPr>
            <a:r>
              <a:rPr lang="en-US" sz="1400" b="1" dirty="0">
                <a:solidFill>
                  <a:srgbClr val="1B2A38"/>
                </a:solidFill>
                <a:latin typeface="Calibri" pitchFamily="34" charset="0"/>
                <a:ea typeface="Calibri" pitchFamily="34" charset="-122"/>
                <a:cs typeface="Calibri" pitchFamily="34" charset="-120"/>
              </a:rPr>
              <a:t>Weather isn't factored in</a:t>
            </a:r>
            <a:endParaRPr lang="en-US" sz="1400" dirty="0"/>
          </a:p>
        </p:txBody>
      </p:sp>
      <p:sp>
        <p:nvSpPr>
          <p:cNvPr id="16" name="Text 14"/>
          <p:cNvSpPr txBox="1"/>
          <p:nvPr/>
        </p:nvSpPr>
        <p:spPr>
          <a:xfrm>
            <a:off x="1234440" y="5458968"/>
            <a:ext cx="5257800" cy="457200"/>
          </a:xfrm>
          <a:prstGeom prst="rect">
            <a:avLst/>
          </a:prstGeom>
          <a:noFill/>
          <a:ln/>
        </p:spPr>
        <p:txBody>
          <a:bodyPr wrap="square" lIns="0" tIns="0" rIns="0" bIns="0" rtlCol="0" anchor="ctr"/>
          <a:lstStyle/>
          <a:p>
            <a:pPr indent="0" marL="0">
              <a:buNone/>
            </a:pPr>
            <a:r>
              <a:rPr lang="en-US" sz="1150" dirty="0">
                <a:solidFill>
                  <a:srgbClr val="62727C"/>
                </a:solidFill>
                <a:latin typeface="Calibri" pitchFamily="34" charset="0"/>
                <a:ea typeface="Calibri" pitchFamily="34" charset="-122"/>
                <a:cs typeface="Calibri" pitchFamily="34" charset="-120"/>
              </a:rPr>
              <a:t>Forecasts and asset health are never combined to act ahead of storms.</a:t>
            </a:r>
            <a:endParaRPr lang="en-US" sz="1150" dirty="0"/>
          </a:p>
        </p:txBody>
      </p:sp>
      <p:sp>
        <p:nvSpPr>
          <p:cNvPr id="17" name="Shape 15"/>
          <p:cNvSpPr/>
          <p:nvPr/>
        </p:nvSpPr>
        <p:spPr>
          <a:xfrm>
            <a:off x="6903720" y="1508760"/>
            <a:ext cx="4754880" cy="4617720"/>
          </a:xfrm>
          <a:prstGeom prst="roundRect">
            <a:avLst>
              <a:gd name="adj" fmla="val 1980"/>
            </a:avLst>
          </a:prstGeom>
          <a:solidFill>
            <a:srgbClr val="18242F"/>
          </a:solidFill>
          <a:ln/>
        </p:spPr>
      </p:sp>
      <p:sp>
        <p:nvSpPr>
          <p:cNvPr id="18" name="Text 16"/>
          <p:cNvSpPr txBox="1"/>
          <p:nvPr/>
        </p:nvSpPr>
        <p:spPr>
          <a:xfrm>
            <a:off x="7360920" y="1828800"/>
            <a:ext cx="3840480" cy="274320"/>
          </a:xfrm>
          <a:prstGeom prst="rect">
            <a:avLst/>
          </a:prstGeom>
          <a:noFill/>
          <a:ln/>
        </p:spPr>
        <p:txBody>
          <a:bodyPr wrap="square" lIns="0" tIns="0" rIns="0" bIns="0" rtlCol="0" anchor="ctr"/>
          <a:lstStyle/>
          <a:p>
            <a:pPr indent="0" marL="0">
              <a:buNone/>
            </a:pPr>
            <a:r>
              <a:rPr lang="en-US" sz="1100" b="1" spc="150" kern="0" dirty="0">
                <a:solidFill>
                  <a:srgbClr val="F5A623"/>
                </a:solidFill>
                <a:latin typeface="Calibri" pitchFamily="34" charset="0"/>
                <a:ea typeface="Calibri" pitchFamily="34" charset="-122"/>
                <a:cs typeface="Calibri" pitchFamily="34" charset="-120"/>
              </a:rPr>
              <a:t>COST OF INACTION</a:t>
            </a:r>
            <a:endParaRPr lang="en-US" sz="1100" dirty="0"/>
          </a:p>
        </p:txBody>
      </p:sp>
      <p:sp>
        <p:nvSpPr>
          <p:cNvPr id="19" name="Text 17"/>
          <p:cNvSpPr txBox="1"/>
          <p:nvPr/>
        </p:nvSpPr>
        <p:spPr>
          <a:xfrm>
            <a:off x="7360920" y="2148840"/>
            <a:ext cx="3840480" cy="82296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$1M+</a:t>
            </a:r>
            <a:endParaRPr lang="en-US" sz="4600" dirty="0"/>
          </a:p>
        </p:txBody>
      </p:sp>
      <p:sp>
        <p:nvSpPr>
          <p:cNvPr id="20" name="Text 18"/>
          <p:cNvSpPr txBox="1"/>
          <p:nvPr/>
        </p:nvSpPr>
        <p:spPr>
          <a:xfrm>
            <a:off x="7360920" y="2926080"/>
            <a:ext cx="3840480" cy="640080"/>
          </a:xfrm>
          <a:prstGeom prst="rect">
            <a:avLst/>
          </a:prstGeom>
          <a:noFill/>
          <a:ln/>
        </p:spPr>
        <p:txBody>
          <a:bodyPr wrap="square" lIns="0" tIns="0" rIns="0" bIns="0" rtlCol="0" anchor="ctr"/>
          <a:lstStyle/>
          <a:p>
            <a:pPr indent="0" marL="0">
              <a:lnSpc>
                <a:spcPct val="125000"/>
              </a:lnSpc>
              <a:buNone/>
            </a:pPr>
            <a:r>
              <a:rPr lang="en-US" sz="1200" dirty="0">
                <a:solidFill>
                  <a:srgbClr val="AEC2CD"/>
                </a:solidFill>
                <a:latin typeface="Calibri" pitchFamily="34" charset="0"/>
                <a:ea typeface="Calibri" pitchFamily="34" charset="-122"/>
                <a:cs typeface="Calibri" pitchFamily="34" charset="-120"/>
              </a:rPr>
              <a:t>lost per hour of blackout, borne by utilities and the millions of people they power</a:t>
            </a:r>
            <a:endParaRPr lang="en-US" sz="1200" dirty="0"/>
          </a:p>
        </p:txBody>
      </p:sp>
      <p:sp>
        <p:nvSpPr>
          <p:cNvPr id="21" name="Shape 19"/>
          <p:cNvSpPr/>
          <p:nvPr/>
        </p:nvSpPr>
        <p:spPr>
          <a:xfrm>
            <a:off x="7360920" y="3703320"/>
            <a:ext cx="3840480" cy="0"/>
          </a:xfrm>
          <a:prstGeom prst="line">
            <a:avLst/>
          </a:prstGeom>
          <a:noFill/>
          <a:ln w="12700">
            <a:solidFill>
              <a:srgbClr val="33465A"/>
            </a:solidFill>
            <a:prstDash val="solid"/>
          </a:ln>
        </p:spPr>
      </p:sp>
      <p:sp>
        <p:nvSpPr>
          <p:cNvPr id="22" name="Text 20"/>
          <p:cNvSpPr txBox="1"/>
          <p:nvPr/>
        </p:nvSpPr>
        <p:spPr>
          <a:xfrm>
            <a:off x="7360920" y="3886200"/>
            <a:ext cx="3840480" cy="5486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WEEKS</a:t>
            </a:r>
            <a:endParaRPr lang="en-US" sz="3400" dirty="0"/>
          </a:p>
        </p:txBody>
      </p:sp>
      <p:sp>
        <p:nvSpPr>
          <p:cNvPr id="23" name="Text 21"/>
          <p:cNvSpPr txBox="1"/>
          <p:nvPr/>
        </p:nvSpPr>
        <p:spPr>
          <a:xfrm>
            <a:off x="7360920" y="4434840"/>
            <a:ext cx="3840480" cy="640080"/>
          </a:xfrm>
          <a:prstGeom prst="rect">
            <a:avLst/>
          </a:prstGeom>
          <a:noFill/>
          <a:ln/>
        </p:spPr>
        <p:txBody>
          <a:bodyPr wrap="square" lIns="0" tIns="0" rIns="0" bIns="0" rtlCol="0" anchor="ctr"/>
          <a:lstStyle/>
          <a:p>
            <a:pPr indent="0" marL="0">
              <a:lnSpc>
                <a:spcPct val="125000"/>
              </a:lnSpc>
              <a:buNone/>
            </a:pPr>
            <a:r>
              <a:rPr lang="en-US" sz="1200" dirty="0">
                <a:solidFill>
                  <a:srgbClr val="AEC2CD"/>
                </a:solidFill>
                <a:latin typeface="Calibri" pitchFamily="34" charset="0"/>
                <a:ea typeface="Calibri" pitchFamily="34" charset="-122"/>
                <a:cs typeface="Calibri" pitchFamily="34" charset="-120"/>
              </a:rPr>
              <a:t>of advance warning already sitting inside HUMS &amp; condition sensors — unread</a:t>
            </a:r>
            <a:endParaRPr lang="en-US" sz="1200" dirty="0"/>
          </a:p>
        </p:txBody>
      </p:sp>
      <p:sp>
        <p:nvSpPr>
          <p:cNvPr id="24" name="Shape 22"/>
          <p:cNvSpPr/>
          <p:nvPr/>
        </p:nvSpPr>
        <p:spPr>
          <a:xfrm>
            <a:off x="7360920" y="5166360"/>
            <a:ext cx="3840480" cy="0"/>
          </a:xfrm>
          <a:prstGeom prst="line">
            <a:avLst/>
          </a:prstGeom>
          <a:noFill/>
          <a:ln w="12700">
            <a:solidFill>
              <a:srgbClr val="33465A"/>
            </a:solidFill>
            <a:prstDash val="solid"/>
          </a:ln>
        </p:spPr>
      </p:sp>
      <p:sp>
        <p:nvSpPr>
          <p:cNvPr id="25" name="Text 23"/>
          <p:cNvSpPr txBox="1"/>
          <p:nvPr/>
        </p:nvSpPr>
        <p:spPr>
          <a:xfrm>
            <a:off x="7360920" y="5349240"/>
            <a:ext cx="3840480" cy="640080"/>
          </a:xfrm>
          <a:prstGeom prst="rect">
            <a:avLst/>
          </a:prstGeom>
          <a:noFill/>
          <a:ln/>
        </p:spPr>
        <p:txBody>
          <a:bodyPr wrap="square" lIns="0" tIns="0" rIns="0" bIns="0" rtlCol="0" anchor="ctr"/>
          <a:lstStyle/>
          <a:p>
            <a:pPr indent="0" marL="0">
              <a:lnSpc>
                <a:spcPct val="130000"/>
              </a:lnSpc>
              <a:buNone/>
            </a:pPr>
            <a:r>
              <a:rPr lang="en-US" sz="1200" i="1" dirty="0">
                <a:solidFill>
                  <a:srgbClr val="CFE0EA"/>
                </a:solidFill>
                <a:latin typeface="Calibri" pitchFamily="34" charset="0"/>
                <a:ea typeface="Calibri" pitchFamily="34" charset="-122"/>
                <a:cs typeface="Calibri" pitchFamily="34" charset="-120"/>
              </a:rPr>
              <a:t>Weather events compound the risk, but forecasts and sensor data are never combined in time to pre-position crews.</a:t>
            </a:r>
            <a:endParaRPr lang="en-US" sz="1200" dirty="0"/>
          </a:p>
        </p:txBody>
      </p:sp>
      <p:sp>
        <p:nvSpPr>
          <p:cNvPr id="26" name="Text 24"/>
          <p:cNvSpPr/>
          <p:nvPr/>
        </p:nvSpPr>
        <p:spPr>
          <a:xfrm>
            <a:off x="11521440" y="6510528"/>
            <a:ext cx="548640" cy="274320"/>
          </a:xfrm>
          <a:prstGeom prst="rect">
            <a:avLst/>
          </a:prstGeom>
          <a:noFill/>
          <a:ln/>
        </p:spPr>
        <p:txBody>
          <a:bodyPr wrap="square" rtlCol="0" anchor="ctr"/>
          <a:lstStyle/>
          <a:p>
            <a:pPr algn="r" indent="0" marL="0">
              <a:buNone/>
            </a:pPr>
            <a:r>
              <a:rPr lang="en-US" sz="1000" dirty="0">
                <a:solidFill>
                  <a:srgbClr val="A7B0B8"/>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250" b="1" spc="200" kern="0" dirty="0">
                <a:solidFill>
                  <a:srgbClr val="F5A623"/>
                </a:solidFill>
                <a:latin typeface="Calibri" pitchFamily="34" charset="0"/>
                <a:ea typeface="Calibri" pitchFamily="34" charset="-122"/>
                <a:cs typeface="Calibri" pitchFamily="34" charset="-120"/>
              </a:rPr>
              <a:t>OUR CHALLENGE — PROBLEM STATEMENT U1</a:t>
            </a:r>
            <a:endParaRPr lang="en-US" sz="1250" dirty="0"/>
          </a:p>
        </p:txBody>
      </p:sp>
      <p:sp>
        <p:nvSpPr>
          <p:cNvPr id="3" name="Text 1"/>
          <p:cNvSpPr txBox="1"/>
          <p:nvPr/>
        </p:nvSpPr>
        <p:spPr>
          <a:xfrm>
            <a:off x="548640" y="713232"/>
            <a:ext cx="8229600" cy="731520"/>
          </a:xfrm>
          <a:prstGeom prst="rect">
            <a:avLst/>
          </a:prstGeom>
          <a:noFill/>
          <a:ln/>
        </p:spPr>
        <p:txBody>
          <a:bodyPr wrap="square" lIns="0" tIns="0" rIns="0" bIns="0" rtlCol="0" anchor="ctr"/>
          <a:lstStyle/>
          <a:p>
            <a:pPr indent="0" marL="0">
              <a:buNone/>
            </a:pPr>
            <a:r>
              <a:rPr lang="en-US" sz="3200" b="1" dirty="0">
                <a:solidFill>
                  <a:srgbClr val="1B2A38"/>
                </a:solidFill>
                <a:latin typeface="Cambria" pitchFamily="34" charset="0"/>
                <a:ea typeface="Cambria" pitchFamily="34" charset="-122"/>
                <a:cs typeface="Cambria" pitchFamily="34" charset="-120"/>
              </a:rPr>
              <a:t>What we set out to build</a:t>
            </a:r>
            <a:endParaRPr lang="en-US" sz="3200" dirty="0"/>
          </a:p>
        </p:txBody>
      </p:sp>
      <p:sp>
        <p:nvSpPr>
          <p:cNvPr id="4" name="Shape 2"/>
          <p:cNvSpPr/>
          <p:nvPr/>
        </p:nvSpPr>
        <p:spPr>
          <a:xfrm>
            <a:off x="548640" y="1783080"/>
            <a:ext cx="2606040" cy="3246120"/>
          </a:xfrm>
          <a:prstGeom prst="roundRect">
            <a:avLst>
              <a:gd name="adj" fmla="val 3158"/>
            </a:avLst>
          </a:prstGeom>
          <a:solidFill>
            <a:srgbClr val="F6F7F9"/>
          </a:solidFill>
          <a:ln w="12700">
            <a:solidFill>
              <a:srgbClr val="E4E8EB"/>
            </a:solidFill>
            <a:prstDash val="solid"/>
          </a:ln>
        </p:spPr>
      </p:sp>
      <p:sp>
        <p:nvSpPr>
          <p:cNvPr id="5" name="Shape 3"/>
          <p:cNvSpPr/>
          <p:nvPr/>
        </p:nvSpPr>
        <p:spPr>
          <a:xfrm>
            <a:off x="822960" y="2075688"/>
            <a:ext cx="640080" cy="640080"/>
          </a:xfrm>
          <a:prstGeom prst="ellipse">
            <a:avLst/>
          </a:prstGeom>
          <a:solidFill>
            <a:srgbClr val="FDEBD0"/>
          </a:solidFill>
          <a:ln/>
        </p:spPr>
      </p:sp>
      <p:sp>
        <p:nvSpPr>
          <p:cNvPr id="6" name="Text 4"/>
          <p:cNvSpPr txBox="1"/>
          <p:nvPr/>
        </p:nvSpPr>
        <p:spPr>
          <a:xfrm>
            <a:off x="822960" y="2057400"/>
            <a:ext cx="640080" cy="640080"/>
          </a:xfrm>
          <a:prstGeom prst="rect">
            <a:avLst/>
          </a:prstGeom>
          <a:noFill/>
          <a:ln/>
        </p:spPr>
        <p:txBody>
          <a:bodyPr wrap="square" lIns="0" tIns="0" rIns="0" bIns="0" rtlCol="0" anchor="ctr"/>
          <a:lstStyle/>
          <a:p>
            <a:pPr algn="ctr" indent="0" marL="0">
              <a:buNone/>
            </a:pPr>
            <a:r>
              <a:rPr lang="en-US" sz="1820" dirty="0">
                <a:solidFill>
                  <a:srgbClr val="000000"/>
                </a:solidFill>
              </a:rPr>
              <a:t>🔗</a:t>
            </a:r>
            <a:endParaRPr lang="en-US" sz="1820" dirty="0"/>
          </a:p>
        </p:txBody>
      </p:sp>
      <p:sp>
        <p:nvSpPr>
          <p:cNvPr id="7" name="Text 5"/>
          <p:cNvSpPr txBox="1"/>
          <p:nvPr/>
        </p:nvSpPr>
        <p:spPr>
          <a:xfrm>
            <a:off x="2468880" y="2039112"/>
            <a:ext cx="548640" cy="365760"/>
          </a:xfrm>
          <a:prstGeom prst="rect">
            <a:avLst/>
          </a:prstGeom>
          <a:noFill/>
          <a:ln/>
        </p:spPr>
        <p:txBody>
          <a:bodyPr wrap="square" lIns="0" tIns="0" rIns="0" bIns="0" rtlCol="0" anchor="ctr"/>
          <a:lstStyle/>
          <a:p>
            <a:pPr algn="r" indent="0" marL="0">
              <a:buNone/>
            </a:pPr>
            <a:r>
              <a:rPr lang="en-US" sz="1600" b="1" dirty="0">
                <a:solidFill>
                  <a:srgbClr val="C7CFD4"/>
                </a:solidFill>
                <a:latin typeface="Cambria" pitchFamily="34" charset="0"/>
                <a:ea typeface="Cambria" pitchFamily="34" charset="-122"/>
                <a:cs typeface="Cambria" pitchFamily="34" charset="-120"/>
              </a:rPr>
              <a:t>01</a:t>
            </a:r>
            <a:endParaRPr lang="en-US" sz="1600" dirty="0"/>
          </a:p>
        </p:txBody>
      </p:sp>
      <p:sp>
        <p:nvSpPr>
          <p:cNvPr id="8" name="Text 6"/>
          <p:cNvSpPr txBox="1"/>
          <p:nvPr/>
        </p:nvSpPr>
        <p:spPr>
          <a:xfrm>
            <a:off x="822960" y="2834640"/>
            <a:ext cx="2057400" cy="502920"/>
          </a:xfrm>
          <a:prstGeom prst="rect">
            <a:avLst/>
          </a:prstGeom>
          <a:noFill/>
          <a:ln/>
        </p:spPr>
        <p:txBody>
          <a:bodyPr wrap="square" lIns="0" tIns="0" rIns="0" bIns="0" rtlCol="0" anchor="ctr"/>
          <a:lstStyle/>
          <a:p>
            <a:pPr indent="0" marL="0">
              <a:buNone/>
            </a:pPr>
            <a:r>
              <a:rPr lang="en-US" sz="1500" b="1" dirty="0">
                <a:solidFill>
                  <a:srgbClr val="1B2A38"/>
                </a:solidFill>
                <a:latin typeface="Calibri" pitchFamily="34" charset="0"/>
                <a:ea typeface="Calibri" pitchFamily="34" charset="-122"/>
                <a:cs typeface="Calibri" pitchFamily="34" charset="-120"/>
              </a:rPr>
              <a:t>Fuse the data</a:t>
            </a:r>
            <a:endParaRPr lang="en-US" sz="1500" dirty="0"/>
          </a:p>
        </p:txBody>
      </p:sp>
      <p:sp>
        <p:nvSpPr>
          <p:cNvPr id="9" name="Text 7"/>
          <p:cNvSpPr txBox="1"/>
          <p:nvPr/>
        </p:nvSpPr>
        <p:spPr>
          <a:xfrm>
            <a:off x="822960" y="3355848"/>
            <a:ext cx="2057400" cy="1508760"/>
          </a:xfrm>
          <a:prstGeom prst="rect">
            <a:avLst/>
          </a:prstGeom>
          <a:noFill/>
          <a:ln/>
        </p:spPr>
        <p:txBody>
          <a:bodyPr wrap="square" lIns="0" tIns="0" rIns="0" bIns="0" rtlCol="0" anchor="ctr"/>
          <a:lstStyle/>
          <a:p>
            <a:pPr indent="0" marL="0">
              <a:lnSpc>
                <a:spcPct val="130000"/>
              </a:lnSpc>
              <a:buNone/>
            </a:pPr>
            <a:r>
              <a:rPr lang="en-US" sz="1150" dirty="0">
                <a:solidFill>
                  <a:srgbClr val="62727C"/>
                </a:solidFill>
                <a:latin typeface="Calibri" pitchFamily="34" charset="0"/>
                <a:ea typeface="Calibri" pitchFamily="34" charset="-122"/>
                <a:cs typeface="Calibri" pitchFamily="34" charset="-120"/>
              </a:rPr>
              <a:t>Combine asset health sensors, weather forecasts, and historical incident records into one view.</a:t>
            </a:r>
            <a:endParaRPr lang="en-US" sz="1150" dirty="0"/>
          </a:p>
        </p:txBody>
      </p:sp>
      <p:sp>
        <p:nvSpPr>
          <p:cNvPr id="10" name="Shape 8"/>
          <p:cNvSpPr/>
          <p:nvPr/>
        </p:nvSpPr>
        <p:spPr>
          <a:xfrm>
            <a:off x="3383280" y="1783080"/>
            <a:ext cx="2606040" cy="3246120"/>
          </a:xfrm>
          <a:prstGeom prst="roundRect">
            <a:avLst>
              <a:gd name="adj" fmla="val 3158"/>
            </a:avLst>
          </a:prstGeom>
          <a:solidFill>
            <a:srgbClr val="F6F7F9"/>
          </a:solidFill>
          <a:ln w="12700">
            <a:solidFill>
              <a:srgbClr val="E4E8EB"/>
            </a:solidFill>
            <a:prstDash val="solid"/>
          </a:ln>
        </p:spPr>
      </p:sp>
      <p:sp>
        <p:nvSpPr>
          <p:cNvPr id="11" name="Shape 9"/>
          <p:cNvSpPr/>
          <p:nvPr/>
        </p:nvSpPr>
        <p:spPr>
          <a:xfrm>
            <a:off x="3657600" y="2075688"/>
            <a:ext cx="640080" cy="640080"/>
          </a:xfrm>
          <a:prstGeom prst="ellipse">
            <a:avLst/>
          </a:prstGeom>
          <a:solidFill>
            <a:srgbClr val="DDEEF0"/>
          </a:solidFill>
          <a:ln/>
        </p:spPr>
      </p:sp>
      <p:sp>
        <p:nvSpPr>
          <p:cNvPr id="12" name="Text 10"/>
          <p:cNvSpPr txBox="1"/>
          <p:nvPr/>
        </p:nvSpPr>
        <p:spPr>
          <a:xfrm>
            <a:off x="3657600" y="2057400"/>
            <a:ext cx="640080" cy="640080"/>
          </a:xfrm>
          <a:prstGeom prst="rect">
            <a:avLst/>
          </a:prstGeom>
          <a:noFill/>
          <a:ln/>
        </p:spPr>
        <p:txBody>
          <a:bodyPr wrap="square" lIns="0" tIns="0" rIns="0" bIns="0" rtlCol="0" anchor="ctr"/>
          <a:lstStyle/>
          <a:p>
            <a:pPr algn="ctr" indent="0" marL="0">
              <a:buNone/>
            </a:pPr>
            <a:r>
              <a:rPr lang="en-US" sz="1820" dirty="0">
                <a:solidFill>
                  <a:srgbClr val="000000"/>
                </a:solidFill>
              </a:rPr>
              <a:t>🎯</a:t>
            </a:r>
            <a:endParaRPr lang="en-US" sz="1820" dirty="0"/>
          </a:p>
        </p:txBody>
      </p:sp>
      <p:sp>
        <p:nvSpPr>
          <p:cNvPr id="13" name="Text 11"/>
          <p:cNvSpPr txBox="1"/>
          <p:nvPr/>
        </p:nvSpPr>
        <p:spPr>
          <a:xfrm>
            <a:off x="5303520" y="2039112"/>
            <a:ext cx="548640" cy="365760"/>
          </a:xfrm>
          <a:prstGeom prst="rect">
            <a:avLst/>
          </a:prstGeom>
          <a:noFill/>
          <a:ln/>
        </p:spPr>
        <p:txBody>
          <a:bodyPr wrap="square" lIns="0" tIns="0" rIns="0" bIns="0" rtlCol="0" anchor="ctr"/>
          <a:lstStyle/>
          <a:p>
            <a:pPr algn="r" indent="0" marL="0">
              <a:buNone/>
            </a:pPr>
            <a:r>
              <a:rPr lang="en-US" sz="1600" b="1" dirty="0">
                <a:solidFill>
                  <a:srgbClr val="C7CFD4"/>
                </a:solidFill>
                <a:latin typeface="Cambria" pitchFamily="34" charset="0"/>
                <a:ea typeface="Cambria" pitchFamily="34" charset="-122"/>
                <a:cs typeface="Cambria" pitchFamily="34" charset="-120"/>
              </a:rPr>
              <a:t>02</a:t>
            </a:r>
            <a:endParaRPr lang="en-US" sz="1600" dirty="0"/>
          </a:p>
        </p:txBody>
      </p:sp>
      <p:sp>
        <p:nvSpPr>
          <p:cNvPr id="14" name="Text 12"/>
          <p:cNvSpPr txBox="1"/>
          <p:nvPr/>
        </p:nvSpPr>
        <p:spPr>
          <a:xfrm>
            <a:off x="3657600" y="2834640"/>
            <a:ext cx="2057400" cy="502920"/>
          </a:xfrm>
          <a:prstGeom prst="rect">
            <a:avLst/>
          </a:prstGeom>
          <a:noFill/>
          <a:ln/>
        </p:spPr>
        <p:txBody>
          <a:bodyPr wrap="square" lIns="0" tIns="0" rIns="0" bIns="0" rtlCol="0" anchor="ctr"/>
          <a:lstStyle/>
          <a:p>
            <a:pPr indent="0" marL="0">
              <a:buNone/>
            </a:pPr>
            <a:r>
              <a:rPr lang="en-US" sz="1500" b="1" dirty="0">
                <a:solidFill>
                  <a:srgbClr val="1B2A38"/>
                </a:solidFill>
                <a:latin typeface="Calibri" pitchFamily="34" charset="0"/>
                <a:ea typeface="Calibri" pitchFamily="34" charset="-122"/>
                <a:cs typeface="Calibri" pitchFamily="34" charset="-120"/>
              </a:rPr>
              <a:t>Predict what fails</a:t>
            </a:r>
            <a:endParaRPr lang="en-US" sz="1500" dirty="0"/>
          </a:p>
        </p:txBody>
      </p:sp>
      <p:sp>
        <p:nvSpPr>
          <p:cNvPr id="15" name="Text 13"/>
          <p:cNvSpPr txBox="1"/>
          <p:nvPr/>
        </p:nvSpPr>
        <p:spPr>
          <a:xfrm>
            <a:off x="3657600" y="3355848"/>
            <a:ext cx="2057400" cy="1508760"/>
          </a:xfrm>
          <a:prstGeom prst="rect">
            <a:avLst/>
          </a:prstGeom>
          <a:noFill/>
          <a:ln/>
        </p:spPr>
        <p:txBody>
          <a:bodyPr wrap="square" lIns="0" tIns="0" rIns="0" bIns="0" rtlCol="0" anchor="ctr"/>
          <a:lstStyle/>
          <a:p>
            <a:pPr indent="0" marL="0">
              <a:lnSpc>
                <a:spcPct val="130000"/>
              </a:lnSpc>
              <a:buNone/>
            </a:pPr>
            <a:r>
              <a:rPr lang="en-US" sz="1150" dirty="0">
                <a:solidFill>
                  <a:srgbClr val="62727C"/>
                </a:solidFill>
                <a:latin typeface="Calibri" pitchFamily="34" charset="0"/>
                <a:ea typeface="Calibri" pitchFamily="34" charset="-122"/>
                <a:cs typeface="Calibri" pitchFamily="34" charset="-120"/>
              </a:rPr>
              <a:t>Forecast outage-prone areas and at-risk equipment before they trip.</a:t>
            </a:r>
            <a:endParaRPr lang="en-US" sz="1150" dirty="0"/>
          </a:p>
        </p:txBody>
      </p:sp>
      <p:sp>
        <p:nvSpPr>
          <p:cNvPr id="16" name="Shape 14"/>
          <p:cNvSpPr/>
          <p:nvPr/>
        </p:nvSpPr>
        <p:spPr>
          <a:xfrm>
            <a:off x="6217920" y="1783080"/>
            <a:ext cx="2606040" cy="3246120"/>
          </a:xfrm>
          <a:prstGeom prst="roundRect">
            <a:avLst>
              <a:gd name="adj" fmla="val 3158"/>
            </a:avLst>
          </a:prstGeom>
          <a:solidFill>
            <a:srgbClr val="F6F7F9"/>
          </a:solidFill>
          <a:ln w="12700">
            <a:solidFill>
              <a:srgbClr val="E4E8EB"/>
            </a:solidFill>
            <a:prstDash val="solid"/>
          </a:ln>
        </p:spPr>
      </p:sp>
      <p:sp>
        <p:nvSpPr>
          <p:cNvPr id="17" name="Shape 15"/>
          <p:cNvSpPr/>
          <p:nvPr/>
        </p:nvSpPr>
        <p:spPr>
          <a:xfrm>
            <a:off x="6492240" y="2075688"/>
            <a:ext cx="640080" cy="640080"/>
          </a:xfrm>
          <a:prstGeom prst="ellipse">
            <a:avLst/>
          </a:prstGeom>
          <a:solidFill>
            <a:srgbClr val="FDEBD0"/>
          </a:solidFill>
          <a:ln/>
        </p:spPr>
      </p:sp>
      <p:sp>
        <p:nvSpPr>
          <p:cNvPr id="18" name="Text 16"/>
          <p:cNvSpPr txBox="1"/>
          <p:nvPr/>
        </p:nvSpPr>
        <p:spPr>
          <a:xfrm>
            <a:off x="6492240" y="2057400"/>
            <a:ext cx="640080" cy="640080"/>
          </a:xfrm>
          <a:prstGeom prst="rect">
            <a:avLst/>
          </a:prstGeom>
          <a:noFill/>
          <a:ln/>
        </p:spPr>
        <p:txBody>
          <a:bodyPr wrap="square" lIns="0" tIns="0" rIns="0" bIns="0" rtlCol="0" anchor="ctr"/>
          <a:lstStyle/>
          <a:p>
            <a:pPr algn="ctr" indent="0" marL="0">
              <a:buNone/>
            </a:pPr>
            <a:r>
              <a:rPr lang="en-US" sz="1820" dirty="0">
                <a:solidFill>
                  <a:srgbClr val="000000"/>
                </a:solidFill>
              </a:rPr>
              <a:t>📊</a:t>
            </a:r>
            <a:endParaRPr lang="en-US" sz="1820" dirty="0"/>
          </a:p>
        </p:txBody>
      </p:sp>
      <p:sp>
        <p:nvSpPr>
          <p:cNvPr id="19" name="Text 17"/>
          <p:cNvSpPr txBox="1"/>
          <p:nvPr/>
        </p:nvSpPr>
        <p:spPr>
          <a:xfrm>
            <a:off x="8138160" y="2039112"/>
            <a:ext cx="548640" cy="365760"/>
          </a:xfrm>
          <a:prstGeom prst="rect">
            <a:avLst/>
          </a:prstGeom>
          <a:noFill/>
          <a:ln/>
        </p:spPr>
        <p:txBody>
          <a:bodyPr wrap="square" lIns="0" tIns="0" rIns="0" bIns="0" rtlCol="0" anchor="ctr"/>
          <a:lstStyle/>
          <a:p>
            <a:pPr algn="r" indent="0" marL="0">
              <a:buNone/>
            </a:pPr>
            <a:r>
              <a:rPr lang="en-US" sz="1600" b="1" dirty="0">
                <a:solidFill>
                  <a:srgbClr val="C7CFD4"/>
                </a:solidFill>
                <a:latin typeface="Cambria" pitchFamily="34" charset="0"/>
                <a:ea typeface="Cambria" pitchFamily="34" charset="-122"/>
                <a:cs typeface="Cambria" pitchFamily="34" charset="-120"/>
              </a:rPr>
              <a:t>03</a:t>
            </a:r>
            <a:endParaRPr lang="en-US" sz="1600" dirty="0"/>
          </a:p>
        </p:txBody>
      </p:sp>
      <p:sp>
        <p:nvSpPr>
          <p:cNvPr id="20" name="Text 18"/>
          <p:cNvSpPr txBox="1"/>
          <p:nvPr/>
        </p:nvSpPr>
        <p:spPr>
          <a:xfrm>
            <a:off x="6492240" y="2834640"/>
            <a:ext cx="2057400" cy="502920"/>
          </a:xfrm>
          <a:prstGeom prst="rect">
            <a:avLst/>
          </a:prstGeom>
          <a:noFill/>
          <a:ln/>
        </p:spPr>
        <p:txBody>
          <a:bodyPr wrap="square" lIns="0" tIns="0" rIns="0" bIns="0" rtlCol="0" anchor="ctr"/>
          <a:lstStyle/>
          <a:p>
            <a:pPr indent="0" marL="0">
              <a:buNone/>
            </a:pPr>
            <a:r>
              <a:rPr lang="en-US" sz="1500" b="1" dirty="0">
                <a:solidFill>
                  <a:srgbClr val="1B2A38"/>
                </a:solidFill>
                <a:latin typeface="Calibri" pitchFamily="34" charset="0"/>
                <a:ea typeface="Calibri" pitchFamily="34" charset="-122"/>
                <a:cs typeface="Calibri" pitchFamily="34" charset="-120"/>
              </a:rPr>
              <a:t>Rank by impact</a:t>
            </a:r>
            <a:endParaRPr lang="en-US" sz="1500" dirty="0"/>
          </a:p>
        </p:txBody>
      </p:sp>
      <p:sp>
        <p:nvSpPr>
          <p:cNvPr id="21" name="Text 19"/>
          <p:cNvSpPr txBox="1"/>
          <p:nvPr/>
        </p:nvSpPr>
        <p:spPr>
          <a:xfrm>
            <a:off x="6492240" y="3355848"/>
            <a:ext cx="2057400" cy="1508760"/>
          </a:xfrm>
          <a:prstGeom prst="rect">
            <a:avLst/>
          </a:prstGeom>
          <a:noFill/>
          <a:ln/>
        </p:spPr>
        <p:txBody>
          <a:bodyPr wrap="square" lIns="0" tIns="0" rIns="0" bIns="0" rtlCol="0" anchor="ctr"/>
          <a:lstStyle/>
          <a:p>
            <a:pPr indent="0" marL="0">
              <a:lnSpc>
                <a:spcPct val="130000"/>
              </a:lnSpc>
              <a:buNone/>
            </a:pPr>
            <a:r>
              <a:rPr lang="en-US" sz="1150" dirty="0">
                <a:solidFill>
                  <a:srgbClr val="62727C"/>
                </a:solidFill>
                <a:latin typeface="Calibri" pitchFamily="34" charset="0"/>
                <a:ea typeface="Calibri" pitchFamily="34" charset="-122"/>
                <a:cs typeface="Calibri" pitchFamily="34" charset="-120"/>
              </a:rPr>
              <a:t>Score assets by grid-impact severity, not just raw sensor risk.</a:t>
            </a:r>
            <a:endParaRPr lang="en-US" sz="1150" dirty="0"/>
          </a:p>
        </p:txBody>
      </p:sp>
      <p:sp>
        <p:nvSpPr>
          <p:cNvPr id="22" name="Shape 20"/>
          <p:cNvSpPr/>
          <p:nvPr/>
        </p:nvSpPr>
        <p:spPr>
          <a:xfrm>
            <a:off x="9052560" y="1783080"/>
            <a:ext cx="2606040" cy="3246120"/>
          </a:xfrm>
          <a:prstGeom prst="roundRect">
            <a:avLst>
              <a:gd name="adj" fmla="val 3158"/>
            </a:avLst>
          </a:prstGeom>
          <a:solidFill>
            <a:srgbClr val="F6F7F9"/>
          </a:solidFill>
          <a:ln w="12700">
            <a:solidFill>
              <a:srgbClr val="E4E8EB"/>
            </a:solidFill>
            <a:prstDash val="solid"/>
          </a:ln>
        </p:spPr>
      </p:sp>
      <p:sp>
        <p:nvSpPr>
          <p:cNvPr id="23" name="Shape 21"/>
          <p:cNvSpPr/>
          <p:nvPr/>
        </p:nvSpPr>
        <p:spPr>
          <a:xfrm>
            <a:off x="9326880" y="2075688"/>
            <a:ext cx="640080" cy="640080"/>
          </a:xfrm>
          <a:prstGeom prst="ellipse">
            <a:avLst/>
          </a:prstGeom>
          <a:solidFill>
            <a:srgbClr val="DDEEF0"/>
          </a:solidFill>
          <a:ln/>
        </p:spPr>
      </p:sp>
      <p:sp>
        <p:nvSpPr>
          <p:cNvPr id="24" name="Text 22"/>
          <p:cNvSpPr txBox="1"/>
          <p:nvPr/>
        </p:nvSpPr>
        <p:spPr>
          <a:xfrm>
            <a:off x="9326880" y="2057400"/>
            <a:ext cx="640080" cy="640080"/>
          </a:xfrm>
          <a:prstGeom prst="rect">
            <a:avLst/>
          </a:prstGeom>
          <a:noFill/>
          <a:ln/>
        </p:spPr>
        <p:txBody>
          <a:bodyPr wrap="square" lIns="0" tIns="0" rIns="0" bIns="0" rtlCol="0" anchor="ctr"/>
          <a:lstStyle/>
          <a:p>
            <a:pPr algn="ctr" indent="0" marL="0">
              <a:buNone/>
            </a:pPr>
            <a:r>
              <a:rPr lang="en-US" sz="1820" dirty="0">
                <a:solidFill>
                  <a:srgbClr val="000000"/>
                </a:solidFill>
              </a:rPr>
              <a:t>🚨</a:t>
            </a:r>
            <a:endParaRPr lang="en-US" sz="1820" dirty="0"/>
          </a:p>
        </p:txBody>
      </p:sp>
      <p:sp>
        <p:nvSpPr>
          <p:cNvPr id="25" name="Text 23"/>
          <p:cNvSpPr txBox="1"/>
          <p:nvPr/>
        </p:nvSpPr>
        <p:spPr>
          <a:xfrm>
            <a:off x="10972800" y="2039112"/>
            <a:ext cx="548640" cy="365760"/>
          </a:xfrm>
          <a:prstGeom prst="rect">
            <a:avLst/>
          </a:prstGeom>
          <a:noFill/>
          <a:ln/>
        </p:spPr>
        <p:txBody>
          <a:bodyPr wrap="square" lIns="0" tIns="0" rIns="0" bIns="0" rtlCol="0" anchor="ctr"/>
          <a:lstStyle/>
          <a:p>
            <a:pPr algn="r" indent="0" marL="0">
              <a:buNone/>
            </a:pPr>
            <a:r>
              <a:rPr lang="en-US" sz="1600" b="1" dirty="0">
                <a:solidFill>
                  <a:srgbClr val="C7CFD4"/>
                </a:solidFill>
                <a:latin typeface="Cambria" pitchFamily="34" charset="0"/>
                <a:ea typeface="Cambria" pitchFamily="34" charset="-122"/>
                <a:cs typeface="Cambria" pitchFamily="34" charset="-120"/>
              </a:rPr>
              <a:t>04</a:t>
            </a:r>
            <a:endParaRPr lang="en-US" sz="1600" dirty="0"/>
          </a:p>
        </p:txBody>
      </p:sp>
      <p:sp>
        <p:nvSpPr>
          <p:cNvPr id="26" name="Text 24"/>
          <p:cNvSpPr txBox="1"/>
          <p:nvPr/>
        </p:nvSpPr>
        <p:spPr>
          <a:xfrm>
            <a:off x="9326880" y="2834640"/>
            <a:ext cx="2057400" cy="502920"/>
          </a:xfrm>
          <a:prstGeom prst="rect">
            <a:avLst/>
          </a:prstGeom>
          <a:noFill/>
          <a:ln/>
        </p:spPr>
        <p:txBody>
          <a:bodyPr wrap="square" lIns="0" tIns="0" rIns="0" bIns="0" rtlCol="0" anchor="ctr"/>
          <a:lstStyle/>
          <a:p>
            <a:pPr indent="0" marL="0">
              <a:buNone/>
            </a:pPr>
            <a:r>
              <a:rPr lang="en-US" sz="1500" b="1" dirty="0">
                <a:solidFill>
                  <a:srgbClr val="1B2A38"/>
                </a:solidFill>
                <a:latin typeface="Calibri" pitchFamily="34" charset="0"/>
                <a:ea typeface="Calibri" pitchFamily="34" charset="-122"/>
                <a:cs typeface="Calibri" pitchFamily="34" charset="-120"/>
              </a:rPr>
              <a:t>Plan the response</a:t>
            </a:r>
            <a:endParaRPr lang="en-US" sz="1500" dirty="0"/>
          </a:p>
        </p:txBody>
      </p:sp>
      <p:sp>
        <p:nvSpPr>
          <p:cNvPr id="27" name="Text 25"/>
          <p:cNvSpPr txBox="1"/>
          <p:nvPr/>
        </p:nvSpPr>
        <p:spPr>
          <a:xfrm>
            <a:off x="9326880" y="3355848"/>
            <a:ext cx="2057400" cy="1508760"/>
          </a:xfrm>
          <a:prstGeom prst="rect">
            <a:avLst/>
          </a:prstGeom>
          <a:noFill/>
          <a:ln/>
        </p:spPr>
        <p:txBody>
          <a:bodyPr wrap="square" lIns="0" tIns="0" rIns="0" bIns="0" rtlCol="0" anchor="ctr"/>
          <a:lstStyle/>
          <a:p>
            <a:pPr indent="0" marL="0">
              <a:lnSpc>
                <a:spcPct val="130000"/>
              </a:lnSpc>
              <a:buNone/>
            </a:pPr>
            <a:r>
              <a:rPr lang="en-US" sz="1150" dirty="0">
                <a:solidFill>
                  <a:srgbClr val="62727C"/>
                </a:solidFill>
                <a:latin typeface="Calibri" pitchFamily="34" charset="0"/>
                <a:ea typeface="Calibri" pitchFamily="34" charset="-122"/>
                <a:cs typeface="Calibri" pitchFamily="34" charset="-120"/>
              </a:rPr>
              <a:t>Generate a prioritised maintenance and crew pre-positioning plan.</a:t>
            </a:r>
            <a:endParaRPr lang="en-US" sz="1150" dirty="0"/>
          </a:p>
        </p:txBody>
      </p:sp>
      <p:sp>
        <p:nvSpPr>
          <p:cNvPr id="28" name="Text 26"/>
          <p:cNvSpPr/>
          <p:nvPr/>
        </p:nvSpPr>
        <p:spPr>
          <a:xfrm>
            <a:off x="11521440" y="6510528"/>
            <a:ext cx="548640" cy="274320"/>
          </a:xfrm>
          <a:prstGeom prst="rect">
            <a:avLst/>
          </a:prstGeom>
          <a:noFill/>
          <a:ln/>
        </p:spPr>
        <p:txBody>
          <a:bodyPr wrap="square" rtlCol="0" anchor="ctr"/>
          <a:lstStyle/>
          <a:p>
            <a:pPr algn="r" indent="0" marL="0">
              <a:buNone/>
            </a:pPr>
            <a:r>
              <a:rPr lang="en-US" sz="1000" dirty="0">
                <a:solidFill>
                  <a:srgbClr val="A7B0B8"/>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8242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250" b="1" spc="200" kern="0" dirty="0">
                <a:solidFill>
                  <a:srgbClr val="F5A623"/>
                </a:solidFill>
                <a:latin typeface="Calibri" pitchFamily="34" charset="0"/>
                <a:ea typeface="Calibri" pitchFamily="34" charset="-122"/>
                <a:cs typeface="Calibri" pitchFamily="34" charset="-120"/>
              </a:rPr>
              <a:t>THE SOLUTION</a:t>
            </a:r>
            <a:endParaRPr lang="en-US" sz="1250" dirty="0"/>
          </a:p>
        </p:txBody>
      </p:sp>
      <p:sp>
        <p:nvSpPr>
          <p:cNvPr id="3" name="Text 1"/>
          <p:cNvSpPr txBox="1"/>
          <p:nvPr/>
        </p:nvSpPr>
        <p:spPr>
          <a:xfrm>
            <a:off x="548640" y="713232"/>
            <a:ext cx="73152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Introducing NEXORA AI</a:t>
            </a:r>
            <a:endParaRPr lang="en-US" sz="3200" dirty="0"/>
          </a:p>
        </p:txBody>
      </p:sp>
      <p:sp>
        <p:nvSpPr>
          <p:cNvPr id="4" name="Text 2"/>
          <p:cNvSpPr txBox="1"/>
          <p:nvPr/>
        </p:nvSpPr>
        <p:spPr>
          <a:xfrm>
            <a:off x="548640" y="1508760"/>
            <a:ext cx="6675120" cy="1920240"/>
          </a:xfrm>
          <a:prstGeom prst="rect">
            <a:avLst/>
          </a:prstGeom>
          <a:noFill/>
          <a:ln/>
        </p:spPr>
        <p:txBody>
          <a:bodyPr wrap="square" lIns="0" tIns="0" rIns="0" bIns="0" rtlCol="0" anchor="ctr"/>
          <a:lstStyle/>
          <a:p>
            <a:pPr indent="0" marL="0">
              <a:lnSpc>
                <a:spcPct val="135000"/>
              </a:lnSpc>
              <a:buNone/>
            </a:pPr>
            <a:r>
              <a:rPr lang="en-US" sz="1450" dirty="0">
                <a:solidFill>
                  <a:srgbClr val="CFE0EA"/>
                </a:solidFill>
                <a:latin typeface="Calibri" pitchFamily="34" charset="0"/>
                <a:ea typeface="Calibri" pitchFamily="34" charset="-122"/>
                <a:cs typeface="Calibri" pitchFamily="34" charset="-120"/>
              </a:rPr>
              <a:t>NEXORA AI fuses worker field observations, sensor data, weather forecasts, historical incident records, GIS location data, and citizen complaints into one explainable risk engine. Every prediction is transparent, versioned, and requires administrator review before action is taken — AI as a decision-support tool, not a black box.</a:t>
            </a:r>
            <a:endParaRPr lang="en-US" sz="1450" dirty="0"/>
          </a:p>
        </p:txBody>
      </p:sp>
      <p:sp>
        <p:nvSpPr>
          <p:cNvPr id="5" name="Shape 3"/>
          <p:cNvSpPr/>
          <p:nvPr/>
        </p:nvSpPr>
        <p:spPr>
          <a:xfrm>
            <a:off x="548640" y="3657600"/>
            <a:ext cx="457200" cy="457200"/>
          </a:xfrm>
          <a:prstGeom prst="ellipse">
            <a:avLst/>
          </a:prstGeom>
          <a:solidFill>
            <a:srgbClr val="22333F"/>
          </a:solidFill>
          <a:ln/>
        </p:spPr>
      </p:sp>
      <p:sp>
        <p:nvSpPr>
          <p:cNvPr id="6" name="Text 4"/>
          <p:cNvSpPr txBox="1"/>
          <p:nvPr/>
        </p:nvSpPr>
        <p:spPr>
          <a:xfrm>
            <a:off x="548640" y="3639312"/>
            <a:ext cx="457200" cy="457200"/>
          </a:xfrm>
          <a:prstGeom prst="rect">
            <a:avLst/>
          </a:prstGeom>
          <a:noFill/>
          <a:ln/>
        </p:spPr>
        <p:txBody>
          <a:bodyPr wrap="square" lIns="0" tIns="0" rIns="0" bIns="0" rtlCol="0" anchor="ctr"/>
          <a:lstStyle/>
          <a:p>
            <a:pPr algn="ctr" indent="0" marL="0">
              <a:buNone/>
            </a:pPr>
            <a:r>
              <a:rPr lang="en-US" sz="1300" dirty="0">
                <a:solidFill>
                  <a:srgbClr val="000000"/>
                </a:solidFill>
              </a:rPr>
              <a:t>🧬</a:t>
            </a:r>
            <a:endParaRPr lang="en-US" sz="1300" dirty="0"/>
          </a:p>
        </p:txBody>
      </p:sp>
      <p:sp>
        <p:nvSpPr>
          <p:cNvPr id="7" name="Text 5"/>
          <p:cNvSpPr txBox="1"/>
          <p:nvPr/>
        </p:nvSpPr>
        <p:spPr>
          <a:xfrm>
            <a:off x="1143000" y="3703320"/>
            <a:ext cx="5760720"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Multi-source data fusion</a:t>
            </a:r>
            <a:endParaRPr lang="en-US" sz="1350" dirty="0"/>
          </a:p>
        </p:txBody>
      </p:sp>
      <p:sp>
        <p:nvSpPr>
          <p:cNvPr id="8" name="Shape 6"/>
          <p:cNvSpPr/>
          <p:nvPr/>
        </p:nvSpPr>
        <p:spPr>
          <a:xfrm>
            <a:off x="548640" y="4279392"/>
            <a:ext cx="457200" cy="457200"/>
          </a:xfrm>
          <a:prstGeom prst="ellipse">
            <a:avLst/>
          </a:prstGeom>
          <a:solidFill>
            <a:srgbClr val="22333F"/>
          </a:solidFill>
          <a:ln/>
        </p:spPr>
      </p:sp>
      <p:sp>
        <p:nvSpPr>
          <p:cNvPr id="9" name="Text 7"/>
          <p:cNvSpPr txBox="1"/>
          <p:nvPr/>
        </p:nvSpPr>
        <p:spPr>
          <a:xfrm>
            <a:off x="548640" y="4261104"/>
            <a:ext cx="457200" cy="457200"/>
          </a:xfrm>
          <a:prstGeom prst="rect">
            <a:avLst/>
          </a:prstGeom>
          <a:noFill/>
          <a:ln/>
        </p:spPr>
        <p:txBody>
          <a:bodyPr wrap="square" lIns="0" tIns="0" rIns="0" bIns="0" rtlCol="0" anchor="ctr"/>
          <a:lstStyle/>
          <a:p>
            <a:pPr algn="ctr" indent="0" marL="0">
              <a:buNone/>
            </a:pPr>
            <a:r>
              <a:rPr lang="en-US" sz="1300" dirty="0">
                <a:solidFill>
                  <a:srgbClr val="000000"/>
                </a:solidFill>
              </a:rPr>
              <a:t>🔍</a:t>
            </a:r>
            <a:endParaRPr lang="en-US" sz="1300" dirty="0"/>
          </a:p>
        </p:txBody>
      </p:sp>
      <p:sp>
        <p:nvSpPr>
          <p:cNvPr id="10" name="Text 8"/>
          <p:cNvSpPr txBox="1"/>
          <p:nvPr/>
        </p:nvSpPr>
        <p:spPr>
          <a:xfrm>
            <a:off x="1143000" y="4325112"/>
            <a:ext cx="5760720"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Explainable, versioned predictions</a:t>
            </a:r>
            <a:endParaRPr lang="en-US" sz="1350" dirty="0"/>
          </a:p>
        </p:txBody>
      </p:sp>
      <p:sp>
        <p:nvSpPr>
          <p:cNvPr id="11" name="Shape 9"/>
          <p:cNvSpPr/>
          <p:nvPr/>
        </p:nvSpPr>
        <p:spPr>
          <a:xfrm>
            <a:off x="548640" y="4901184"/>
            <a:ext cx="457200" cy="457200"/>
          </a:xfrm>
          <a:prstGeom prst="ellipse">
            <a:avLst/>
          </a:prstGeom>
          <a:solidFill>
            <a:srgbClr val="22333F"/>
          </a:solidFill>
          <a:ln/>
        </p:spPr>
      </p:sp>
      <p:sp>
        <p:nvSpPr>
          <p:cNvPr id="12" name="Text 10"/>
          <p:cNvSpPr txBox="1"/>
          <p:nvPr/>
        </p:nvSpPr>
        <p:spPr>
          <a:xfrm>
            <a:off x="548640" y="4882896"/>
            <a:ext cx="457200" cy="457200"/>
          </a:xfrm>
          <a:prstGeom prst="rect">
            <a:avLst/>
          </a:prstGeom>
          <a:noFill/>
          <a:ln/>
        </p:spPr>
        <p:txBody>
          <a:bodyPr wrap="square" lIns="0" tIns="0" rIns="0" bIns="0" rtlCol="0" anchor="ctr"/>
          <a:lstStyle/>
          <a:p>
            <a:pPr algn="ctr" indent="0" marL="0">
              <a:buNone/>
            </a:pPr>
            <a:r>
              <a:rPr lang="en-US" sz="1300" dirty="0">
                <a:solidFill>
                  <a:srgbClr val="000000"/>
                </a:solidFill>
              </a:rPr>
              <a:t>🧑‍✈️</a:t>
            </a:r>
            <a:endParaRPr lang="en-US" sz="1300" dirty="0"/>
          </a:p>
        </p:txBody>
      </p:sp>
      <p:sp>
        <p:nvSpPr>
          <p:cNvPr id="13" name="Text 11"/>
          <p:cNvSpPr txBox="1"/>
          <p:nvPr/>
        </p:nvSpPr>
        <p:spPr>
          <a:xfrm>
            <a:off x="1143000" y="4946904"/>
            <a:ext cx="5760720"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Human-in-the-loop governance</a:t>
            </a:r>
            <a:endParaRPr lang="en-US" sz="1350" dirty="0"/>
          </a:p>
        </p:txBody>
      </p:sp>
      <p:sp>
        <p:nvSpPr>
          <p:cNvPr id="14" name="Shape 12"/>
          <p:cNvSpPr/>
          <p:nvPr/>
        </p:nvSpPr>
        <p:spPr>
          <a:xfrm>
            <a:off x="548640" y="5522976"/>
            <a:ext cx="457200" cy="457200"/>
          </a:xfrm>
          <a:prstGeom prst="ellipse">
            <a:avLst/>
          </a:prstGeom>
          <a:solidFill>
            <a:srgbClr val="22333F"/>
          </a:solidFill>
          <a:ln/>
        </p:spPr>
      </p:sp>
      <p:sp>
        <p:nvSpPr>
          <p:cNvPr id="15" name="Text 13"/>
          <p:cNvSpPr txBox="1"/>
          <p:nvPr/>
        </p:nvSpPr>
        <p:spPr>
          <a:xfrm>
            <a:off x="548640" y="5504688"/>
            <a:ext cx="457200" cy="457200"/>
          </a:xfrm>
          <a:prstGeom prst="rect">
            <a:avLst/>
          </a:prstGeom>
          <a:noFill/>
          <a:ln/>
        </p:spPr>
        <p:txBody>
          <a:bodyPr wrap="square" lIns="0" tIns="0" rIns="0" bIns="0" rtlCol="0" anchor="ctr"/>
          <a:lstStyle/>
          <a:p>
            <a:pPr algn="ctr" indent="0" marL="0">
              <a:buNone/>
            </a:pPr>
            <a:r>
              <a:rPr lang="en-US" sz="1300" dirty="0">
                <a:solidFill>
                  <a:srgbClr val="000000"/>
                </a:solidFill>
              </a:rPr>
              <a:t>🗺️</a:t>
            </a:r>
            <a:endParaRPr lang="en-US" sz="1300" dirty="0"/>
          </a:p>
        </p:txBody>
      </p:sp>
      <p:sp>
        <p:nvSpPr>
          <p:cNvPr id="16" name="Text 14"/>
          <p:cNvSpPr txBox="1"/>
          <p:nvPr/>
        </p:nvSpPr>
        <p:spPr>
          <a:xfrm>
            <a:off x="1143000" y="5568696"/>
            <a:ext cx="5760720"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GIS + weather aware risk scoring</a:t>
            </a:r>
            <a:endParaRPr lang="en-US" sz="1350" dirty="0"/>
          </a:p>
        </p:txBody>
      </p:sp>
      <p:sp>
        <p:nvSpPr>
          <p:cNvPr id="17" name="Shape 15"/>
          <p:cNvSpPr/>
          <p:nvPr/>
        </p:nvSpPr>
        <p:spPr>
          <a:xfrm>
            <a:off x="7397496" y="1499616"/>
            <a:ext cx="4315968" cy="2148840"/>
          </a:xfrm>
          <a:prstGeom prst="roundRect">
            <a:avLst>
              <a:gd name="adj" fmla="val 3404"/>
            </a:avLst>
          </a:prstGeom>
          <a:solidFill>
            <a:srgbClr val="FFFFFF"/>
          </a:solidFill>
          <a:ln w="12700">
            <a:solidFill>
              <a:srgbClr val="D8DEE3"/>
            </a:solidFill>
            <a:prstDash val="solid"/>
          </a:ln>
          <a:effectLst>
            <a:outerShdw sx="100000" sy="100000" kx="0" ky="0" algn="bl" rotWithShape="0" blurRad="127000" dist="38100" dir="5400000">
              <a:srgbClr val="1B2A38">
                <a:alpha val="25000"/>
              </a:srgbClr>
            </a:outerShdw>
          </a:effectLst>
        </p:spPr>
      </p:sp>
      <p:pic>
        <p:nvPicPr>
          <p:cNvPr id="18" name="Image 0" descr="/home/claude/ppt/assets/hero.jpg">    </p:cNvPr>
          <p:cNvPicPr>
            <a:picLocks noChangeAspect="1"/>
          </p:cNvPicPr>
          <p:nvPr/>
        </p:nvPicPr>
        <p:blipFill>
          <a:blip r:embed="rId1"/>
          <a:srcRect l="0" r="0" t="0" b="0"/>
          <a:stretch/>
        </p:blipFill>
        <p:spPr>
          <a:xfrm>
            <a:off x="7452360" y="1554480"/>
            <a:ext cx="4206240" cy="2039112"/>
          </a:xfrm>
          <a:prstGeom prst="rect">
            <a:avLst/>
          </a:prstGeom>
        </p:spPr>
      </p:pic>
      <p:sp>
        <p:nvSpPr>
          <p:cNvPr id="19" name="Text 16"/>
          <p:cNvSpPr txBox="1"/>
          <p:nvPr/>
        </p:nvSpPr>
        <p:spPr>
          <a:xfrm>
            <a:off x="7452360" y="3703320"/>
            <a:ext cx="4206240" cy="548640"/>
          </a:xfrm>
          <a:prstGeom prst="rect">
            <a:avLst/>
          </a:prstGeom>
          <a:noFill/>
          <a:ln/>
        </p:spPr>
        <p:txBody>
          <a:bodyPr wrap="square" lIns="0" tIns="0" rIns="0" bIns="0" rtlCol="0" anchor="ctr"/>
          <a:lstStyle/>
          <a:p>
            <a:pPr indent="0" marL="0">
              <a:lnSpc>
                <a:spcPct val="120000"/>
              </a:lnSpc>
              <a:buNone/>
            </a:pPr>
            <a:r>
              <a:rPr lang="en-US" sz="1050" i="1" dirty="0">
                <a:solidFill>
                  <a:srgbClr val="8592A0"/>
                </a:solidFill>
                <a:latin typeface="Calibri" pitchFamily="34" charset="0"/>
                <a:ea typeface="Calibri" pitchFamily="34" charset="-122"/>
                <a:cs typeface="Calibri" pitchFamily="34" charset="-120"/>
              </a:rPr>
              <a:t>Live landing page — worker onboarding, citizen complaints &amp; admin access in one platform</a:t>
            </a:r>
            <a:endParaRPr lang="en-US" sz="1050" dirty="0"/>
          </a:p>
        </p:txBody>
      </p:sp>
      <p:sp>
        <p:nvSpPr>
          <p:cNvPr id="20" name="Text 17"/>
          <p:cNvSpPr/>
          <p:nvPr/>
        </p:nvSpPr>
        <p:spPr>
          <a:xfrm>
            <a:off x="11521440" y="6510528"/>
            <a:ext cx="548640" cy="274320"/>
          </a:xfrm>
          <a:prstGeom prst="rect">
            <a:avLst/>
          </a:prstGeom>
          <a:noFill/>
          <a:ln/>
        </p:spPr>
        <p:txBody>
          <a:bodyPr wrap="square" rtlCol="0" anchor="ctr"/>
          <a:lstStyle/>
          <a:p>
            <a:pPr algn="r" indent="0" marL="0">
              <a:buNone/>
            </a:pPr>
            <a:r>
              <a:rPr lang="en-US" sz="1000" dirty="0">
                <a:solidFill>
                  <a:srgbClr val="8592A0"/>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250" b="1" spc="200" kern="0" dirty="0">
                <a:solidFill>
                  <a:srgbClr val="F5A623"/>
                </a:solidFill>
                <a:latin typeface="Calibri" pitchFamily="34" charset="0"/>
                <a:ea typeface="Calibri" pitchFamily="34" charset="-122"/>
                <a:cs typeface="Calibri" pitchFamily="34" charset="-120"/>
              </a:rPr>
              <a:t>HOW IT WORKS</a:t>
            </a:r>
            <a:endParaRPr lang="en-US" sz="1250" dirty="0"/>
          </a:p>
        </p:txBody>
      </p:sp>
      <p:sp>
        <p:nvSpPr>
          <p:cNvPr id="3" name="Text 1"/>
          <p:cNvSpPr txBox="1"/>
          <p:nvPr/>
        </p:nvSpPr>
        <p:spPr>
          <a:xfrm>
            <a:off x="548640" y="713232"/>
            <a:ext cx="9144000" cy="731520"/>
          </a:xfrm>
          <a:prstGeom prst="rect">
            <a:avLst/>
          </a:prstGeom>
          <a:noFill/>
          <a:ln/>
        </p:spPr>
        <p:txBody>
          <a:bodyPr wrap="square" lIns="0" tIns="0" rIns="0" bIns="0" rtlCol="0" anchor="ctr"/>
          <a:lstStyle/>
          <a:p>
            <a:pPr indent="0" marL="0">
              <a:buNone/>
            </a:pPr>
            <a:r>
              <a:rPr lang="en-US" sz="3200" b="1" dirty="0">
                <a:solidFill>
                  <a:srgbClr val="1B2A38"/>
                </a:solidFill>
                <a:latin typeface="Cambria" pitchFamily="34" charset="0"/>
                <a:ea typeface="Cambria" pitchFamily="34" charset="-122"/>
                <a:cs typeface="Cambria" pitchFamily="34" charset="-120"/>
              </a:rPr>
              <a:t>From raw signals to a crew action plan</a:t>
            </a:r>
            <a:endParaRPr lang="en-US" sz="3200" dirty="0"/>
          </a:p>
        </p:txBody>
      </p:sp>
      <p:sp>
        <p:nvSpPr>
          <p:cNvPr id="4" name="Shape 2"/>
          <p:cNvSpPr/>
          <p:nvPr/>
        </p:nvSpPr>
        <p:spPr>
          <a:xfrm>
            <a:off x="548640" y="1965960"/>
            <a:ext cx="1993392" cy="3200400"/>
          </a:xfrm>
          <a:prstGeom prst="roundRect">
            <a:avLst>
              <a:gd name="adj" fmla="val 4128"/>
            </a:avLst>
          </a:prstGeom>
          <a:solidFill>
            <a:srgbClr val="F6F7F9"/>
          </a:solidFill>
          <a:ln w="12700">
            <a:solidFill>
              <a:srgbClr val="E4E8EB"/>
            </a:solidFill>
            <a:prstDash val="solid"/>
          </a:ln>
        </p:spPr>
      </p:sp>
      <p:sp>
        <p:nvSpPr>
          <p:cNvPr id="5" name="Shape 3"/>
          <p:cNvSpPr/>
          <p:nvPr/>
        </p:nvSpPr>
        <p:spPr>
          <a:xfrm>
            <a:off x="1271016" y="2240280"/>
            <a:ext cx="548640" cy="548640"/>
          </a:xfrm>
          <a:prstGeom prst="ellipse">
            <a:avLst/>
          </a:prstGeom>
          <a:solidFill>
            <a:srgbClr val="DDEEF0"/>
          </a:solidFill>
          <a:ln/>
        </p:spPr>
      </p:sp>
      <p:sp>
        <p:nvSpPr>
          <p:cNvPr id="6" name="Text 4"/>
          <p:cNvSpPr txBox="1"/>
          <p:nvPr/>
        </p:nvSpPr>
        <p:spPr>
          <a:xfrm>
            <a:off x="1271016" y="2221992"/>
            <a:ext cx="548640" cy="548640"/>
          </a:xfrm>
          <a:prstGeom prst="rect">
            <a:avLst/>
          </a:prstGeom>
          <a:noFill/>
          <a:ln/>
        </p:spPr>
        <p:txBody>
          <a:bodyPr wrap="square" lIns="0" tIns="0" rIns="0" bIns="0" rtlCol="0" anchor="ctr"/>
          <a:lstStyle/>
          <a:p>
            <a:pPr algn="ctr" indent="0" marL="0">
              <a:buNone/>
            </a:pPr>
            <a:r>
              <a:rPr lang="en-US" sz="1560" dirty="0">
                <a:solidFill>
                  <a:srgbClr val="000000"/>
                </a:solidFill>
              </a:rPr>
              <a:t>🗂️</a:t>
            </a:r>
            <a:endParaRPr lang="en-US" sz="1560" dirty="0"/>
          </a:p>
        </p:txBody>
      </p:sp>
      <p:sp>
        <p:nvSpPr>
          <p:cNvPr id="7" name="Text 5"/>
          <p:cNvSpPr txBox="1"/>
          <p:nvPr/>
        </p:nvSpPr>
        <p:spPr>
          <a:xfrm>
            <a:off x="658368" y="2971800"/>
            <a:ext cx="1773936" cy="365760"/>
          </a:xfrm>
          <a:prstGeom prst="rect">
            <a:avLst/>
          </a:prstGeom>
          <a:noFill/>
          <a:ln/>
        </p:spPr>
        <p:txBody>
          <a:bodyPr wrap="square" lIns="0" tIns="0" rIns="0" bIns="0" rtlCol="0" anchor="ctr"/>
          <a:lstStyle/>
          <a:p>
            <a:pPr algn="ctr" indent="0" marL="0">
              <a:buNone/>
            </a:pPr>
            <a:r>
              <a:rPr lang="en-US" sz="1350" b="1" dirty="0">
                <a:solidFill>
                  <a:srgbClr val="1B2A38"/>
                </a:solidFill>
                <a:latin typeface="Calibri" pitchFamily="34" charset="0"/>
                <a:ea typeface="Calibri" pitchFamily="34" charset="-122"/>
                <a:cs typeface="Calibri" pitchFamily="34" charset="-120"/>
              </a:rPr>
              <a:t>Ingest</a:t>
            </a:r>
            <a:endParaRPr lang="en-US" sz="1350" dirty="0"/>
          </a:p>
        </p:txBody>
      </p:sp>
      <p:sp>
        <p:nvSpPr>
          <p:cNvPr id="8" name="Text 6"/>
          <p:cNvSpPr txBox="1"/>
          <p:nvPr/>
        </p:nvSpPr>
        <p:spPr>
          <a:xfrm>
            <a:off x="676656" y="3383280"/>
            <a:ext cx="1737360" cy="1691640"/>
          </a:xfrm>
          <a:prstGeom prst="rect">
            <a:avLst/>
          </a:prstGeom>
          <a:noFill/>
          <a:ln/>
        </p:spPr>
        <p:txBody>
          <a:bodyPr wrap="square" lIns="0" tIns="0" rIns="0" bIns="0" rtlCol="0" anchor="ctr"/>
          <a:lstStyle/>
          <a:p>
            <a:pPr algn="ctr" indent="0" marL="0">
              <a:lnSpc>
                <a:spcPct val="125000"/>
              </a:lnSpc>
              <a:buNone/>
            </a:pPr>
            <a:r>
              <a:rPr lang="en-US" sz="1000" dirty="0">
                <a:solidFill>
                  <a:srgbClr val="62727C"/>
                </a:solidFill>
                <a:latin typeface="Calibri" pitchFamily="34" charset="0"/>
                <a:ea typeface="Calibri" pitchFamily="34" charset="-122"/>
                <a:cs typeface="Calibri" pitchFamily="34" charset="-120"/>
              </a:rPr>
              <a:t>Sensor telemetry, weather forecasts, worker reports, complaints &amp; incident history</a:t>
            </a:r>
            <a:endParaRPr lang="en-US" sz="1000" dirty="0"/>
          </a:p>
        </p:txBody>
      </p:sp>
      <p:sp>
        <p:nvSpPr>
          <p:cNvPr id="9" name="Text 7"/>
          <p:cNvSpPr txBox="1"/>
          <p:nvPr/>
        </p:nvSpPr>
        <p:spPr>
          <a:xfrm>
            <a:off x="2523744" y="3337560"/>
            <a:ext cx="274320" cy="365760"/>
          </a:xfrm>
          <a:prstGeom prst="rect">
            <a:avLst/>
          </a:prstGeom>
          <a:noFill/>
          <a:ln/>
        </p:spPr>
        <p:txBody>
          <a:bodyPr wrap="square" lIns="0" tIns="0" rIns="0" bIns="0" rtlCol="0" anchor="ctr"/>
          <a:lstStyle/>
          <a:p>
            <a:pPr algn="ctr" indent="0" marL="0">
              <a:buNone/>
            </a:pPr>
            <a:r>
              <a:rPr lang="en-US" sz="1600" b="1" dirty="0">
                <a:solidFill>
                  <a:srgbClr val="B9C2C8"/>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2670048" y="1965960"/>
            <a:ext cx="1993392" cy="3200400"/>
          </a:xfrm>
          <a:prstGeom prst="roundRect">
            <a:avLst>
              <a:gd name="adj" fmla="val 4128"/>
            </a:avLst>
          </a:prstGeom>
          <a:solidFill>
            <a:srgbClr val="F6F7F9"/>
          </a:solidFill>
          <a:ln w="12700">
            <a:solidFill>
              <a:srgbClr val="E4E8EB"/>
            </a:solidFill>
            <a:prstDash val="solid"/>
          </a:ln>
        </p:spPr>
      </p:sp>
      <p:sp>
        <p:nvSpPr>
          <p:cNvPr id="11" name="Shape 9"/>
          <p:cNvSpPr/>
          <p:nvPr/>
        </p:nvSpPr>
        <p:spPr>
          <a:xfrm>
            <a:off x="3392424" y="2240280"/>
            <a:ext cx="548640" cy="548640"/>
          </a:xfrm>
          <a:prstGeom prst="ellipse">
            <a:avLst/>
          </a:prstGeom>
          <a:solidFill>
            <a:srgbClr val="DDEEF0"/>
          </a:solidFill>
          <a:ln/>
        </p:spPr>
      </p:sp>
      <p:sp>
        <p:nvSpPr>
          <p:cNvPr id="12" name="Text 10"/>
          <p:cNvSpPr txBox="1"/>
          <p:nvPr/>
        </p:nvSpPr>
        <p:spPr>
          <a:xfrm>
            <a:off x="3392424" y="2221992"/>
            <a:ext cx="548640" cy="548640"/>
          </a:xfrm>
          <a:prstGeom prst="rect">
            <a:avLst/>
          </a:prstGeom>
          <a:noFill/>
          <a:ln/>
        </p:spPr>
        <p:txBody>
          <a:bodyPr wrap="square" lIns="0" tIns="0" rIns="0" bIns="0" rtlCol="0" anchor="ctr"/>
          <a:lstStyle/>
          <a:p>
            <a:pPr algn="ctr" indent="0" marL="0">
              <a:buNone/>
            </a:pPr>
            <a:r>
              <a:rPr lang="en-US" sz="1560" dirty="0">
                <a:solidFill>
                  <a:srgbClr val="000000"/>
                </a:solidFill>
              </a:rPr>
              <a:t>🧠</a:t>
            </a:r>
            <a:endParaRPr lang="en-US" sz="1560" dirty="0"/>
          </a:p>
        </p:txBody>
      </p:sp>
      <p:sp>
        <p:nvSpPr>
          <p:cNvPr id="13" name="Text 11"/>
          <p:cNvSpPr txBox="1"/>
          <p:nvPr/>
        </p:nvSpPr>
        <p:spPr>
          <a:xfrm>
            <a:off x="2779776" y="2971800"/>
            <a:ext cx="1773936" cy="365760"/>
          </a:xfrm>
          <a:prstGeom prst="rect">
            <a:avLst/>
          </a:prstGeom>
          <a:noFill/>
          <a:ln/>
        </p:spPr>
        <p:txBody>
          <a:bodyPr wrap="square" lIns="0" tIns="0" rIns="0" bIns="0" rtlCol="0" anchor="ctr"/>
          <a:lstStyle/>
          <a:p>
            <a:pPr algn="ctr" indent="0" marL="0">
              <a:buNone/>
            </a:pPr>
            <a:r>
              <a:rPr lang="en-US" sz="1350" b="1" dirty="0">
                <a:solidFill>
                  <a:srgbClr val="1B2A38"/>
                </a:solidFill>
                <a:latin typeface="Calibri" pitchFamily="34" charset="0"/>
                <a:ea typeface="Calibri" pitchFamily="34" charset="-122"/>
                <a:cs typeface="Calibri" pitchFamily="34" charset="-120"/>
              </a:rPr>
              <a:t>Score Risk</a:t>
            </a:r>
            <a:endParaRPr lang="en-US" sz="1350" dirty="0"/>
          </a:p>
        </p:txBody>
      </p:sp>
      <p:sp>
        <p:nvSpPr>
          <p:cNvPr id="14" name="Text 12"/>
          <p:cNvSpPr txBox="1"/>
          <p:nvPr/>
        </p:nvSpPr>
        <p:spPr>
          <a:xfrm>
            <a:off x="2798064" y="3383280"/>
            <a:ext cx="1737360" cy="1691640"/>
          </a:xfrm>
          <a:prstGeom prst="rect">
            <a:avLst/>
          </a:prstGeom>
          <a:noFill/>
          <a:ln/>
        </p:spPr>
        <p:txBody>
          <a:bodyPr wrap="square" lIns="0" tIns="0" rIns="0" bIns="0" rtlCol="0" anchor="ctr"/>
          <a:lstStyle/>
          <a:p>
            <a:pPr algn="ctr" indent="0" marL="0">
              <a:lnSpc>
                <a:spcPct val="125000"/>
              </a:lnSpc>
              <a:buNone/>
            </a:pPr>
            <a:r>
              <a:rPr lang="en-US" sz="1000" dirty="0">
                <a:solidFill>
                  <a:srgbClr val="62727C"/>
                </a:solidFill>
                <a:latin typeface="Calibri" pitchFamily="34" charset="0"/>
                <a:ea typeface="Calibri" pitchFamily="34" charset="-122"/>
                <a:cs typeface="Calibri" pitchFamily="34" charset="-120"/>
              </a:rPr>
              <a:t>AI risk engine scores every asset with contributing factors &amp; confidence</a:t>
            </a:r>
            <a:endParaRPr lang="en-US" sz="1000" dirty="0"/>
          </a:p>
        </p:txBody>
      </p:sp>
      <p:sp>
        <p:nvSpPr>
          <p:cNvPr id="15" name="Text 13"/>
          <p:cNvSpPr txBox="1"/>
          <p:nvPr/>
        </p:nvSpPr>
        <p:spPr>
          <a:xfrm>
            <a:off x="4645152" y="3337560"/>
            <a:ext cx="274320" cy="365760"/>
          </a:xfrm>
          <a:prstGeom prst="rect">
            <a:avLst/>
          </a:prstGeom>
          <a:noFill/>
          <a:ln/>
        </p:spPr>
        <p:txBody>
          <a:bodyPr wrap="square" lIns="0" tIns="0" rIns="0" bIns="0" rtlCol="0" anchor="ctr"/>
          <a:lstStyle/>
          <a:p>
            <a:pPr algn="ctr" indent="0" marL="0">
              <a:buNone/>
            </a:pPr>
            <a:r>
              <a:rPr lang="en-US" sz="1600" b="1" dirty="0">
                <a:solidFill>
                  <a:srgbClr val="B9C2C8"/>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4791456" y="1965960"/>
            <a:ext cx="1993392" cy="3200400"/>
          </a:xfrm>
          <a:prstGeom prst="roundRect">
            <a:avLst>
              <a:gd name="adj" fmla="val 4128"/>
            </a:avLst>
          </a:prstGeom>
          <a:solidFill>
            <a:srgbClr val="F6F7F9"/>
          </a:solidFill>
          <a:ln w="12700">
            <a:solidFill>
              <a:srgbClr val="E4E8EB"/>
            </a:solidFill>
            <a:prstDash val="solid"/>
          </a:ln>
        </p:spPr>
      </p:sp>
      <p:sp>
        <p:nvSpPr>
          <p:cNvPr id="17" name="Shape 15"/>
          <p:cNvSpPr/>
          <p:nvPr/>
        </p:nvSpPr>
        <p:spPr>
          <a:xfrm>
            <a:off x="5513832" y="2240280"/>
            <a:ext cx="548640" cy="548640"/>
          </a:xfrm>
          <a:prstGeom prst="ellipse">
            <a:avLst/>
          </a:prstGeom>
          <a:solidFill>
            <a:srgbClr val="DDEEF0"/>
          </a:solidFill>
          <a:ln/>
        </p:spPr>
      </p:sp>
      <p:sp>
        <p:nvSpPr>
          <p:cNvPr id="18" name="Text 16"/>
          <p:cNvSpPr txBox="1"/>
          <p:nvPr/>
        </p:nvSpPr>
        <p:spPr>
          <a:xfrm>
            <a:off x="5513832" y="2221992"/>
            <a:ext cx="548640" cy="548640"/>
          </a:xfrm>
          <a:prstGeom prst="rect">
            <a:avLst/>
          </a:prstGeom>
          <a:noFill/>
          <a:ln/>
        </p:spPr>
        <p:txBody>
          <a:bodyPr wrap="square" lIns="0" tIns="0" rIns="0" bIns="0" rtlCol="0" anchor="ctr"/>
          <a:lstStyle/>
          <a:p>
            <a:pPr algn="ctr" indent="0" marL="0">
              <a:buNone/>
            </a:pPr>
            <a:r>
              <a:rPr lang="en-US" sz="1560" dirty="0">
                <a:solidFill>
                  <a:srgbClr val="000000"/>
                </a:solidFill>
              </a:rPr>
              <a:t>📋</a:t>
            </a:r>
            <a:endParaRPr lang="en-US" sz="1560" dirty="0"/>
          </a:p>
        </p:txBody>
      </p:sp>
      <p:sp>
        <p:nvSpPr>
          <p:cNvPr id="19" name="Text 17"/>
          <p:cNvSpPr txBox="1"/>
          <p:nvPr/>
        </p:nvSpPr>
        <p:spPr>
          <a:xfrm>
            <a:off x="4901184" y="2971800"/>
            <a:ext cx="1773936" cy="365760"/>
          </a:xfrm>
          <a:prstGeom prst="rect">
            <a:avLst/>
          </a:prstGeom>
          <a:noFill/>
          <a:ln/>
        </p:spPr>
        <p:txBody>
          <a:bodyPr wrap="square" lIns="0" tIns="0" rIns="0" bIns="0" rtlCol="0" anchor="ctr"/>
          <a:lstStyle/>
          <a:p>
            <a:pPr algn="ctr" indent="0" marL="0">
              <a:buNone/>
            </a:pPr>
            <a:r>
              <a:rPr lang="en-US" sz="1350" b="1" dirty="0">
                <a:solidFill>
                  <a:srgbClr val="1B2A38"/>
                </a:solidFill>
                <a:latin typeface="Calibri" pitchFamily="34" charset="0"/>
                <a:ea typeface="Calibri" pitchFamily="34" charset="-122"/>
                <a:cs typeface="Calibri" pitchFamily="34" charset="-120"/>
              </a:rPr>
              <a:t>Prioritise</a:t>
            </a:r>
            <a:endParaRPr lang="en-US" sz="1350" dirty="0"/>
          </a:p>
        </p:txBody>
      </p:sp>
      <p:sp>
        <p:nvSpPr>
          <p:cNvPr id="20" name="Text 18"/>
          <p:cNvSpPr txBox="1"/>
          <p:nvPr/>
        </p:nvSpPr>
        <p:spPr>
          <a:xfrm>
            <a:off x="4919472" y="3383280"/>
            <a:ext cx="1737360" cy="1691640"/>
          </a:xfrm>
          <a:prstGeom prst="rect">
            <a:avLst/>
          </a:prstGeom>
          <a:noFill/>
          <a:ln/>
        </p:spPr>
        <p:txBody>
          <a:bodyPr wrap="square" lIns="0" tIns="0" rIns="0" bIns="0" rtlCol="0" anchor="ctr"/>
          <a:lstStyle/>
          <a:p>
            <a:pPr algn="ctr" indent="0" marL="0">
              <a:lnSpc>
                <a:spcPct val="125000"/>
              </a:lnSpc>
              <a:buNone/>
            </a:pPr>
            <a:r>
              <a:rPr lang="en-US" sz="1000" dirty="0">
                <a:solidFill>
                  <a:srgbClr val="62727C"/>
                </a:solidFill>
                <a:latin typeface="Calibri" pitchFamily="34" charset="0"/>
                <a:ea typeface="Calibri" pitchFamily="34" charset="-122"/>
                <a:cs typeface="Calibri" pitchFamily="34" charset="-120"/>
              </a:rPr>
              <a:t>Ranks the queue: risk × 0.4 + grid impact × 0.3 + failure prob. × 0.2 + urgency × 0.1</a:t>
            </a:r>
            <a:endParaRPr lang="en-US" sz="1000" dirty="0"/>
          </a:p>
        </p:txBody>
      </p:sp>
      <p:sp>
        <p:nvSpPr>
          <p:cNvPr id="21" name="Text 19"/>
          <p:cNvSpPr txBox="1"/>
          <p:nvPr/>
        </p:nvSpPr>
        <p:spPr>
          <a:xfrm>
            <a:off x="6766560" y="3337560"/>
            <a:ext cx="274320" cy="365760"/>
          </a:xfrm>
          <a:prstGeom prst="rect">
            <a:avLst/>
          </a:prstGeom>
          <a:noFill/>
          <a:ln/>
        </p:spPr>
        <p:txBody>
          <a:bodyPr wrap="square" lIns="0" tIns="0" rIns="0" bIns="0" rtlCol="0" anchor="ctr"/>
          <a:lstStyle/>
          <a:p>
            <a:pPr algn="ctr" indent="0" marL="0">
              <a:buNone/>
            </a:pPr>
            <a:r>
              <a:rPr lang="en-US" sz="1600" b="1" dirty="0">
                <a:solidFill>
                  <a:srgbClr val="B9C2C8"/>
                </a:solidFill>
                <a:latin typeface="Calibri" pitchFamily="34" charset="0"/>
                <a:ea typeface="Calibri" pitchFamily="34" charset="-122"/>
                <a:cs typeface="Calibri" pitchFamily="34" charset="-120"/>
              </a:rPr>
              <a:t>→</a:t>
            </a:r>
            <a:endParaRPr lang="en-US" sz="1600" dirty="0"/>
          </a:p>
        </p:txBody>
      </p:sp>
      <p:sp>
        <p:nvSpPr>
          <p:cNvPr id="22" name="Shape 20"/>
          <p:cNvSpPr/>
          <p:nvPr/>
        </p:nvSpPr>
        <p:spPr>
          <a:xfrm>
            <a:off x="6912864" y="1965960"/>
            <a:ext cx="1993392" cy="3200400"/>
          </a:xfrm>
          <a:prstGeom prst="roundRect">
            <a:avLst>
              <a:gd name="adj" fmla="val 4128"/>
            </a:avLst>
          </a:prstGeom>
          <a:solidFill>
            <a:srgbClr val="FDEFE0"/>
          </a:solidFill>
          <a:ln w="12700">
            <a:solidFill>
              <a:srgbClr val="E4E8EB"/>
            </a:solidFill>
            <a:prstDash val="solid"/>
          </a:ln>
        </p:spPr>
      </p:sp>
      <p:sp>
        <p:nvSpPr>
          <p:cNvPr id="23" name="Shape 21"/>
          <p:cNvSpPr/>
          <p:nvPr/>
        </p:nvSpPr>
        <p:spPr>
          <a:xfrm>
            <a:off x="7635240" y="2240280"/>
            <a:ext cx="548640" cy="548640"/>
          </a:xfrm>
          <a:prstGeom prst="ellipse">
            <a:avLst/>
          </a:prstGeom>
          <a:solidFill>
            <a:srgbClr val="F5A623"/>
          </a:solidFill>
          <a:ln/>
        </p:spPr>
      </p:sp>
      <p:sp>
        <p:nvSpPr>
          <p:cNvPr id="24" name="Text 22"/>
          <p:cNvSpPr txBox="1"/>
          <p:nvPr/>
        </p:nvSpPr>
        <p:spPr>
          <a:xfrm>
            <a:off x="7635240" y="2221992"/>
            <a:ext cx="548640" cy="548640"/>
          </a:xfrm>
          <a:prstGeom prst="rect">
            <a:avLst/>
          </a:prstGeom>
          <a:noFill/>
          <a:ln/>
        </p:spPr>
        <p:txBody>
          <a:bodyPr wrap="square" lIns="0" tIns="0" rIns="0" bIns="0" rtlCol="0" anchor="ctr"/>
          <a:lstStyle/>
          <a:p>
            <a:pPr algn="ctr" indent="0" marL="0">
              <a:buNone/>
            </a:pPr>
            <a:r>
              <a:rPr lang="en-US" sz="1560" dirty="0">
                <a:solidFill>
                  <a:srgbClr val="000000"/>
                </a:solidFill>
              </a:rPr>
              <a:t>✅</a:t>
            </a:r>
            <a:endParaRPr lang="en-US" sz="1560" dirty="0"/>
          </a:p>
        </p:txBody>
      </p:sp>
      <p:sp>
        <p:nvSpPr>
          <p:cNvPr id="25" name="Text 23"/>
          <p:cNvSpPr txBox="1"/>
          <p:nvPr/>
        </p:nvSpPr>
        <p:spPr>
          <a:xfrm>
            <a:off x="7022592" y="2971800"/>
            <a:ext cx="1773936" cy="365760"/>
          </a:xfrm>
          <a:prstGeom prst="rect">
            <a:avLst/>
          </a:prstGeom>
          <a:noFill/>
          <a:ln/>
        </p:spPr>
        <p:txBody>
          <a:bodyPr wrap="square" lIns="0" tIns="0" rIns="0" bIns="0" rtlCol="0" anchor="ctr"/>
          <a:lstStyle/>
          <a:p>
            <a:pPr algn="ctr" indent="0" marL="0">
              <a:buNone/>
            </a:pPr>
            <a:r>
              <a:rPr lang="en-US" sz="1350" b="1" dirty="0">
                <a:solidFill>
                  <a:srgbClr val="1B2A38"/>
                </a:solidFill>
                <a:latin typeface="Calibri" pitchFamily="34" charset="0"/>
                <a:ea typeface="Calibri" pitchFamily="34" charset="-122"/>
                <a:cs typeface="Calibri" pitchFamily="34" charset="-120"/>
              </a:rPr>
              <a:t>Human Review</a:t>
            </a:r>
            <a:endParaRPr lang="en-US" sz="1350" dirty="0"/>
          </a:p>
        </p:txBody>
      </p:sp>
      <p:sp>
        <p:nvSpPr>
          <p:cNvPr id="26" name="Text 24"/>
          <p:cNvSpPr txBox="1"/>
          <p:nvPr/>
        </p:nvSpPr>
        <p:spPr>
          <a:xfrm>
            <a:off x="7040880" y="3383280"/>
            <a:ext cx="1737360" cy="1691640"/>
          </a:xfrm>
          <a:prstGeom prst="rect">
            <a:avLst/>
          </a:prstGeom>
          <a:noFill/>
          <a:ln/>
        </p:spPr>
        <p:txBody>
          <a:bodyPr wrap="square" lIns="0" tIns="0" rIns="0" bIns="0" rtlCol="0" anchor="ctr"/>
          <a:lstStyle/>
          <a:p>
            <a:pPr algn="ctr" indent="0" marL="0">
              <a:lnSpc>
                <a:spcPct val="125000"/>
              </a:lnSpc>
              <a:buNone/>
            </a:pPr>
            <a:r>
              <a:rPr lang="en-US" sz="1000" dirty="0">
                <a:solidFill>
                  <a:srgbClr val="62727C"/>
                </a:solidFill>
                <a:latin typeface="Calibri" pitchFamily="34" charset="0"/>
                <a:ea typeface="Calibri" pitchFamily="34" charset="-122"/>
                <a:cs typeface="Calibri" pitchFamily="34" charset="-120"/>
              </a:rPr>
              <a:t>Administrator approves, rejects, or overrides — with a mandatory reason</a:t>
            </a:r>
            <a:endParaRPr lang="en-US" sz="1000" dirty="0"/>
          </a:p>
        </p:txBody>
      </p:sp>
      <p:sp>
        <p:nvSpPr>
          <p:cNvPr id="27" name="Text 25"/>
          <p:cNvSpPr txBox="1"/>
          <p:nvPr/>
        </p:nvSpPr>
        <p:spPr>
          <a:xfrm>
            <a:off x="8887968" y="3337560"/>
            <a:ext cx="274320" cy="365760"/>
          </a:xfrm>
          <a:prstGeom prst="rect">
            <a:avLst/>
          </a:prstGeom>
          <a:noFill/>
          <a:ln/>
        </p:spPr>
        <p:txBody>
          <a:bodyPr wrap="square" lIns="0" tIns="0" rIns="0" bIns="0" rtlCol="0" anchor="ctr"/>
          <a:lstStyle/>
          <a:p>
            <a:pPr algn="ctr" indent="0" marL="0">
              <a:buNone/>
            </a:pPr>
            <a:r>
              <a:rPr lang="en-US" sz="1600" b="1" dirty="0">
                <a:solidFill>
                  <a:srgbClr val="B9C2C8"/>
                </a:solidFill>
                <a:latin typeface="Calibri" pitchFamily="34" charset="0"/>
                <a:ea typeface="Calibri" pitchFamily="34" charset="-122"/>
                <a:cs typeface="Calibri" pitchFamily="34" charset="-120"/>
              </a:rPr>
              <a:t>→</a:t>
            </a:r>
            <a:endParaRPr lang="en-US" sz="1600" dirty="0"/>
          </a:p>
        </p:txBody>
      </p:sp>
      <p:sp>
        <p:nvSpPr>
          <p:cNvPr id="28" name="Shape 26"/>
          <p:cNvSpPr/>
          <p:nvPr/>
        </p:nvSpPr>
        <p:spPr>
          <a:xfrm>
            <a:off x="9034272" y="1965960"/>
            <a:ext cx="1993392" cy="3200400"/>
          </a:xfrm>
          <a:prstGeom prst="roundRect">
            <a:avLst>
              <a:gd name="adj" fmla="val 4128"/>
            </a:avLst>
          </a:prstGeom>
          <a:solidFill>
            <a:srgbClr val="F6F7F9"/>
          </a:solidFill>
          <a:ln w="12700">
            <a:solidFill>
              <a:srgbClr val="E4E8EB"/>
            </a:solidFill>
            <a:prstDash val="solid"/>
          </a:ln>
        </p:spPr>
      </p:sp>
      <p:sp>
        <p:nvSpPr>
          <p:cNvPr id="29" name="Shape 27"/>
          <p:cNvSpPr/>
          <p:nvPr/>
        </p:nvSpPr>
        <p:spPr>
          <a:xfrm>
            <a:off x="9756648" y="2240280"/>
            <a:ext cx="548640" cy="548640"/>
          </a:xfrm>
          <a:prstGeom prst="ellipse">
            <a:avLst/>
          </a:prstGeom>
          <a:solidFill>
            <a:srgbClr val="DDEEF0"/>
          </a:solidFill>
          <a:ln/>
        </p:spPr>
      </p:sp>
      <p:sp>
        <p:nvSpPr>
          <p:cNvPr id="30" name="Text 28"/>
          <p:cNvSpPr txBox="1"/>
          <p:nvPr/>
        </p:nvSpPr>
        <p:spPr>
          <a:xfrm>
            <a:off x="9756648" y="2221992"/>
            <a:ext cx="548640" cy="548640"/>
          </a:xfrm>
          <a:prstGeom prst="rect">
            <a:avLst/>
          </a:prstGeom>
          <a:noFill/>
          <a:ln/>
        </p:spPr>
        <p:txBody>
          <a:bodyPr wrap="square" lIns="0" tIns="0" rIns="0" bIns="0" rtlCol="0" anchor="ctr"/>
          <a:lstStyle/>
          <a:p>
            <a:pPr algn="ctr" indent="0" marL="0">
              <a:buNone/>
            </a:pPr>
            <a:r>
              <a:rPr lang="en-US" sz="1560" dirty="0">
                <a:solidFill>
                  <a:srgbClr val="000000"/>
                </a:solidFill>
              </a:rPr>
              <a:t>🔧</a:t>
            </a:r>
            <a:endParaRPr lang="en-US" sz="1560" dirty="0"/>
          </a:p>
        </p:txBody>
      </p:sp>
      <p:sp>
        <p:nvSpPr>
          <p:cNvPr id="31" name="Text 29"/>
          <p:cNvSpPr txBox="1"/>
          <p:nvPr/>
        </p:nvSpPr>
        <p:spPr>
          <a:xfrm>
            <a:off x="9144000" y="2971800"/>
            <a:ext cx="1773936" cy="365760"/>
          </a:xfrm>
          <a:prstGeom prst="rect">
            <a:avLst/>
          </a:prstGeom>
          <a:noFill/>
          <a:ln/>
        </p:spPr>
        <p:txBody>
          <a:bodyPr wrap="square" lIns="0" tIns="0" rIns="0" bIns="0" rtlCol="0" anchor="ctr"/>
          <a:lstStyle/>
          <a:p>
            <a:pPr algn="ctr" indent="0" marL="0">
              <a:buNone/>
            </a:pPr>
            <a:r>
              <a:rPr lang="en-US" sz="1350" b="1" dirty="0">
                <a:solidFill>
                  <a:srgbClr val="1B2A38"/>
                </a:solidFill>
                <a:latin typeface="Calibri" pitchFamily="34" charset="0"/>
                <a:ea typeface="Calibri" pitchFamily="34" charset="-122"/>
                <a:cs typeface="Calibri" pitchFamily="34" charset="-120"/>
              </a:rPr>
              <a:t>Dispatch</a:t>
            </a:r>
            <a:endParaRPr lang="en-US" sz="1350" dirty="0"/>
          </a:p>
        </p:txBody>
      </p:sp>
      <p:sp>
        <p:nvSpPr>
          <p:cNvPr id="32" name="Text 30"/>
          <p:cNvSpPr txBox="1"/>
          <p:nvPr/>
        </p:nvSpPr>
        <p:spPr>
          <a:xfrm>
            <a:off x="9162288" y="3383280"/>
            <a:ext cx="1737360" cy="1691640"/>
          </a:xfrm>
          <a:prstGeom prst="rect">
            <a:avLst/>
          </a:prstGeom>
          <a:noFill/>
          <a:ln/>
        </p:spPr>
        <p:txBody>
          <a:bodyPr wrap="square" lIns="0" tIns="0" rIns="0" bIns="0" rtlCol="0" anchor="ctr"/>
          <a:lstStyle/>
          <a:p>
            <a:pPr algn="ctr" indent="0" marL="0">
              <a:lnSpc>
                <a:spcPct val="125000"/>
              </a:lnSpc>
              <a:buNone/>
            </a:pPr>
            <a:r>
              <a:rPr lang="en-US" sz="1000" dirty="0">
                <a:solidFill>
                  <a:srgbClr val="62727C"/>
                </a:solidFill>
                <a:latin typeface="Calibri" pitchFamily="34" charset="0"/>
                <a:ea typeface="Calibri" pitchFamily="34" charset="-122"/>
                <a:cs typeface="Calibri" pitchFamily="34" charset="-120"/>
              </a:rPr>
              <a:t>Approved plan flows to crews &amp; workers as a prioritised maintenance task</a:t>
            </a:r>
            <a:endParaRPr lang="en-US" sz="1000" dirty="0"/>
          </a:p>
        </p:txBody>
      </p:sp>
      <p:sp>
        <p:nvSpPr>
          <p:cNvPr id="33" name="Shape 31"/>
          <p:cNvSpPr/>
          <p:nvPr/>
        </p:nvSpPr>
        <p:spPr>
          <a:xfrm>
            <a:off x="548640" y="5440680"/>
            <a:ext cx="11091672" cy="777240"/>
          </a:xfrm>
          <a:prstGeom prst="roundRect">
            <a:avLst>
              <a:gd name="adj" fmla="val 9412"/>
            </a:avLst>
          </a:prstGeom>
          <a:solidFill>
            <a:srgbClr val="18242F"/>
          </a:solidFill>
          <a:ln/>
        </p:spPr>
      </p:sp>
      <p:sp>
        <p:nvSpPr>
          <p:cNvPr id="34" name="Text 32"/>
          <p:cNvSpPr txBox="1"/>
          <p:nvPr/>
        </p:nvSpPr>
        <p:spPr>
          <a:xfrm>
            <a:off x="868680" y="5440680"/>
            <a:ext cx="3291840" cy="777240"/>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Nothing reaches a crew without sign-off:</a:t>
            </a:r>
            <a:endParaRPr lang="en-US" sz="1250" dirty="0"/>
          </a:p>
        </p:txBody>
      </p:sp>
      <p:sp>
        <p:nvSpPr>
          <p:cNvPr id="35" name="Text 33"/>
          <p:cNvSpPr txBox="1"/>
          <p:nvPr/>
        </p:nvSpPr>
        <p:spPr>
          <a:xfrm>
            <a:off x="4114800" y="5440680"/>
            <a:ext cx="7223760" cy="777240"/>
          </a:xfrm>
          <a:prstGeom prst="rect">
            <a:avLst/>
          </a:prstGeom>
          <a:noFill/>
          <a:ln/>
        </p:spPr>
        <p:txBody>
          <a:bodyPr wrap="square" lIns="0" tIns="0" rIns="0" bIns="0" rtlCol="0" anchor="ctr"/>
          <a:lstStyle/>
          <a:p>
            <a:pPr indent="0" marL="0">
              <a:lnSpc>
                <a:spcPct val="125000"/>
              </a:lnSpc>
              <a:buNone/>
            </a:pPr>
            <a:r>
              <a:rPr lang="en-US" sz="1200" i="1" dirty="0">
                <a:solidFill>
                  <a:srgbClr val="CFE0EA"/>
                </a:solidFill>
                <a:latin typeface="Calibri" pitchFamily="34" charset="0"/>
                <a:ea typeface="Calibri" pitchFamily="34" charset="-122"/>
                <a:cs typeface="Calibri" pitchFamily="34" charset="-120"/>
              </a:rPr>
              <a:t>“All plans require administrator approval before crew assignment.” — every prediction is versioned, timestamped, and reviewable.</a:t>
            </a:r>
            <a:endParaRPr lang="en-US" sz="1200" dirty="0"/>
          </a:p>
        </p:txBody>
      </p:sp>
      <p:sp>
        <p:nvSpPr>
          <p:cNvPr id="36" name="Text 34"/>
          <p:cNvSpPr/>
          <p:nvPr/>
        </p:nvSpPr>
        <p:spPr>
          <a:xfrm>
            <a:off x="11521440" y="6510528"/>
            <a:ext cx="548640" cy="274320"/>
          </a:xfrm>
          <a:prstGeom prst="rect">
            <a:avLst/>
          </a:prstGeom>
          <a:noFill/>
          <a:ln/>
        </p:spPr>
        <p:txBody>
          <a:bodyPr wrap="square" rtlCol="0" anchor="ctr"/>
          <a:lstStyle/>
          <a:p>
            <a:pPr algn="r" indent="0" marL="0">
              <a:buNone/>
            </a:pPr>
            <a:r>
              <a:rPr lang="en-US" sz="1000" dirty="0">
                <a:solidFill>
                  <a:srgbClr val="A7B0B8"/>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250" b="1" spc="200" kern="0" dirty="0">
                <a:solidFill>
                  <a:srgbClr val="F5A623"/>
                </a:solidFill>
                <a:latin typeface="Calibri" pitchFamily="34" charset="0"/>
                <a:ea typeface="Calibri" pitchFamily="34" charset="-122"/>
                <a:cs typeface="Calibri" pitchFamily="34" charset="-120"/>
              </a:rPr>
              <a:t>IN ACTION — COMMAND CENTRE</a:t>
            </a:r>
            <a:endParaRPr lang="en-US" sz="1250" dirty="0"/>
          </a:p>
        </p:txBody>
      </p:sp>
      <p:sp>
        <p:nvSpPr>
          <p:cNvPr id="3" name="Text 1"/>
          <p:cNvSpPr txBox="1"/>
          <p:nvPr/>
        </p:nvSpPr>
        <p:spPr>
          <a:xfrm>
            <a:off x="548640" y="713232"/>
            <a:ext cx="8229600" cy="731520"/>
          </a:xfrm>
          <a:prstGeom prst="rect">
            <a:avLst/>
          </a:prstGeom>
          <a:noFill/>
          <a:ln/>
        </p:spPr>
        <p:txBody>
          <a:bodyPr wrap="square" lIns="0" tIns="0" rIns="0" bIns="0" rtlCol="0" anchor="ctr"/>
          <a:lstStyle/>
          <a:p>
            <a:pPr indent="0" marL="0">
              <a:buNone/>
            </a:pPr>
            <a:r>
              <a:rPr lang="en-US" sz="3200" b="1" dirty="0">
                <a:solidFill>
                  <a:srgbClr val="1B2A38"/>
                </a:solidFill>
                <a:latin typeface="Cambria" pitchFamily="34" charset="0"/>
                <a:ea typeface="Cambria" pitchFamily="34" charset="-122"/>
                <a:cs typeface="Cambria" pitchFamily="34" charset="-120"/>
              </a:rPr>
              <a:t>One dashboard, national grid visibility</a:t>
            </a:r>
            <a:endParaRPr lang="en-US" sz="3200" dirty="0"/>
          </a:p>
        </p:txBody>
      </p:sp>
      <p:sp>
        <p:nvSpPr>
          <p:cNvPr id="4" name="Shape 2"/>
          <p:cNvSpPr/>
          <p:nvPr/>
        </p:nvSpPr>
        <p:spPr>
          <a:xfrm>
            <a:off x="493776" y="1499616"/>
            <a:ext cx="7059168" cy="3474720"/>
          </a:xfrm>
          <a:prstGeom prst="roundRect">
            <a:avLst>
              <a:gd name="adj" fmla="val 2105"/>
            </a:avLst>
          </a:prstGeom>
          <a:solidFill>
            <a:srgbClr val="FFFFFF"/>
          </a:solidFill>
          <a:ln w="12700">
            <a:solidFill>
              <a:srgbClr val="D8DEE3"/>
            </a:solidFill>
            <a:prstDash val="solid"/>
          </a:ln>
          <a:effectLst>
            <a:outerShdw sx="100000" sy="100000" kx="0" ky="0" algn="bl" rotWithShape="0" blurRad="127000" dist="38100" dir="5400000">
              <a:srgbClr val="1B2A38">
                <a:alpha val="25000"/>
              </a:srgbClr>
            </a:outerShdw>
          </a:effectLst>
        </p:spPr>
      </p:sp>
      <p:pic>
        <p:nvPicPr>
          <p:cNvPr id="5" name="Image 0" descr="/home/claude/ppt/assets/dashboard.jpg">    </p:cNvPr>
          <p:cNvPicPr>
            <a:picLocks noChangeAspect="1"/>
          </p:cNvPicPr>
          <p:nvPr/>
        </p:nvPicPr>
        <p:blipFill>
          <a:blip r:embed="rId1"/>
          <a:srcRect l="0" r="0" t="0" b="0"/>
          <a:stretch/>
        </p:blipFill>
        <p:spPr>
          <a:xfrm>
            <a:off x="548640" y="1554480"/>
            <a:ext cx="6949440" cy="3364992"/>
          </a:xfrm>
          <a:prstGeom prst="rect">
            <a:avLst/>
          </a:prstGeom>
        </p:spPr>
      </p:pic>
      <p:sp>
        <p:nvSpPr>
          <p:cNvPr id="6" name="Text 3"/>
          <p:cNvSpPr txBox="1"/>
          <p:nvPr/>
        </p:nvSpPr>
        <p:spPr>
          <a:xfrm>
            <a:off x="548640" y="5029200"/>
            <a:ext cx="6949440" cy="457200"/>
          </a:xfrm>
          <a:prstGeom prst="rect">
            <a:avLst/>
          </a:prstGeom>
          <a:noFill/>
          <a:ln/>
        </p:spPr>
        <p:txBody>
          <a:bodyPr wrap="square" lIns="0" tIns="0" rIns="0" bIns="0" rtlCol="0" anchor="ctr"/>
          <a:lstStyle/>
          <a:p>
            <a:pPr indent="0" marL="0">
              <a:buNone/>
            </a:pPr>
            <a:r>
              <a:rPr lang="en-US" sz="1050" i="1" dirty="0">
                <a:solidFill>
                  <a:srgbClr val="62727C"/>
                </a:solidFill>
                <a:latin typeface="Calibri" pitchFamily="34" charset="0"/>
                <a:ea typeface="Calibri" pitchFamily="34" charset="-122"/>
                <a:cs typeface="Calibri" pitchFamily="34" charset="-120"/>
              </a:rPr>
              <a:t>Super Admin dashboard: live asset counts, critical-risk flags, and active weather alerts across states</a:t>
            </a:r>
            <a:endParaRPr lang="en-US" sz="1050" dirty="0"/>
          </a:p>
        </p:txBody>
      </p:sp>
      <p:sp>
        <p:nvSpPr>
          <p:cNvPr id="7" name="Shape 4"/>
          <p:cNvSpPr/>
          <p:nvPr/>
        </p:nvSpPr>
        <p:spPr>
          <a:xfrm>
            <a:off x="7818120" y="1673352"/>
            <a:ext cx="109728" cy="109728"/>
          </a:xfrm>
          <a:prstGeom prst="ellipse">
            <a:avLst/>
          </a:prstGeom>
          <a:solidFill>
            <a:srgbClr val="F5A623"/>
          </a:solidFill>
          <a:ln/>
        </p:spPr>
      </p:sp>
      <p:sp>
        <p:nvSpPr>
          <p:cNvPr id="8" name="Text 5"/>
          <p:cNvSpPr txBox="1"/>
          <p:nvPr/>
        </p:nvSpPr>
        <p:spPr>
          <a:xfrm>
            <a:off x="8046720" y="1545336"/>
            <a:ext cx="3566160" cy="320040"/>
          </a:xfrm>
          <a:prstGeom prst="rect">
            <a:avLst/>
          </a:prstGeom>
          <a:noFill/>
          <a:ln/>
        </p:spPr>
        <p:txBody>
          <a:bodyPr wrap="square" lIns="0" tIns="0" rIns="0" bIns="0" rtlCol="0" anchor="ctr"/>
          <a:lstStyle/>
          <a:p>
            <a:pPr indent="0" marL="0">
              <a:buNone/>
            </a:pPr>
            <a:r>
              <a:rPr lang="en-US" sz="1350" b="1" dirty="0">
                <a:solidFill>
                  <a:srgbClr val="1B2A38"/>
                </a:solidFill>
                <a:latin typeface="Calibri" pitchFamily="34" charset="0"/>
                <a:ea typeface="Calibri" pitchFamily="34" charset="-122"/>
                <a:cs typeface="Calibri" pitchFamily="34" charset="-120"/>
              </a:rPr>
              <a:t>Real-time KPIs</a:t>
            </a:r>
            <a:endParaRPr lang="en-US" sz="1350" dirty="0"/>
          </a:p>
        </p:txBody>
      </p:sp>
      <p:sp>
        <p:nvSpPr>
          <p:cNvPr id="9" name="Text 6"/>
          <p:cNvSpPr txBox="1"/>
          <p:nvPr/>
        </p:nvSpPr>
        <p:spPr>
          <a:xfrm>
            <a:off x="8046720" y="1856232"/>
            <a:ext cx="3566160" cy="685800"/>
          </a:xfrm>
          <a:prstGeom prst="rect">
            <a:avLst/>
          </a:prstGeom>
          <a:noFill/>
          <a:ln/>
        </p:spPr>
        <p:txBody>
          <a:bodyPr wrap="square" lIns="0" tIns="0" rIns="0" bIns="0" rtlCol="0" anchor="ctr"/>
          <a:lstStyle/>
          <a:p>
            <a:pPr indent="0" marL="0">
              <a:lnSpc>
                <a:spcPct val="125000"/>
              </a:lnSpc>
              <a:buNone/>
            </a:pPr>
            <a:r>
              <a:rPr lang="en-US" sz="1100" dirty="0">
                <a:solidFill>
                  <a:srgbClr val="62727C"/>
                </a:solidFill>
                <a:latin typeface="Calibri" pitchFamily="34" charset="0"/>
                <a:ea typeface="Calibri" pitchFamily="34" charset="-122"/>
                <a:cs typeface="Calibri" pitchFamily="34" charset="-120"/>
              </a:rPr>
              <a:t>Total assets, critical-risk count, open complaints &amp; pending inspections at a glance</a:t>
            </a:r>
            <a:endParaRPr lang="en-US" sz="1100" dirty="0"/>
          </a:p>
        </p:txBody>
      </p:sp>
      <p:sp>
        <p:nvSpPr>
          <p:cNvPr id="10" name="Shape 7"/>
          <p:cNvSpPr/>
          <p:nvPr/>
        </p:nvSpPr>
        <p:spPr>
          <a:xfrm>
            <a:off x="7818120" y="2816352"/>
            <a:ext cx="109728" cy="109728"/>
          </a:xfrm>
          <a:prstGeom prst="ellipse">
            <a:avLst/>
          </a:prstGeom>
          <a:solidFill>
            <a:srgbClr val="F5A623"/>
          </a:solidFill>
          <a:ln/>
        </p:spPr>
      </p:sp>
      <p:sp>
        <p:nvSpPr>
          <p:cNvPr id="11" name="Text 8"/>
          <p:cNvSpPr txBox="1"/>
          <p:nvPr/>
        </p:nvSpPr>
        <p:spPr>
          <a:xfrm>
            <a:off x="8046720" y="2688336"/>
            <a:ext cx="3566160" cy="320040"/>
          </a:xfrm>
          <a:prstGeom prst="rect">
            <a:avLst/>
          </a:prstGeom>
          <a:noFill/>
          <a:ln/>
        </p:spPr>
        <p:txBody>
          <a:bodyPr wrap="square" lIns="0" tIns="0" rIns="0" bIns="0" rtlCol="0" anchor="ctr"/>
          <a:lstStyle/>
          <a:p>
            <a:pPr indent="0" marL="0">
              <a:buNone/>
            </a:pPr>
            <a:r>
              <a:rPr lang="en-US" sz="1350" b="1" dirty="0">
                <a:solidFill>
                  <a:srgbClr val="1B2A38"/>
                </a:solidFill>
                <a:latin typeface="Calibri" pitchFamily="34" charset="0"/>
                <a:ea typeface="Calibri" pitchFamily="34" charset="-122"/>
                <a:cs typeface="Calibri" pitchFamily="34" charset="-120"/>
              </a:rPr>
              <a:t>Weather-aware</a:t>
            </a:r>
            <a:endParaRPr lang="en-US" sz="1350" dirty="0"/>
          </a:p>
        </p:txBody>
      </p:sp>
      <p:sp>
        <p:nvSpPr>
          <p:cNvPr id="12" name="Text 9"/>
          <p:cNvSpPr txBox="1"/>
          <p:nvPr/>
        </p:nvSpPr>
        <p:spPr>
          <a:xfrm>
            <a:off x="8046720" y="2999232"/>
            <a:ext cx="3566160" cy="685800"/>
          </a:xfrm>
          <a:prstGeom prst="rect">
            <a:avLst/>
          </a:prstGeom>
          <a:noFill/>
          <a:ln/>
        </p:spPr>
        <p:txBody>
          <a:bodyPr wrap="square" lIns="0" tIns="0" rIns="0" bIns="0" rtlCol="0" anchor="ctr"/>
          <a:lstStyle/>
          <a:p>
            <a:pPr indent="0" marL="0">
              <a:lnSpc>
                <a:spcPct val="125000"/>
              </a:lnSpc>
              <a:buNone/>
            </a:pPr>
            <a:r>
              <a:rPr lang="en-US" sz="1100" dirty="0">
                <a:solidFill>
                  <a:srgbClr val="62727C"/>
                </a:solidFill>
                <a:latin typeface="Calibri" pitchFamily="34" charset="0"/>
                <a:ea typeface="Calibri" pitchFamily="34" charset="-122"/>
                <a:cs typeface="Calibri" pitchFamily="34" charset="-120"/>
              </a:rPr>
              <a:t>Active flood / storm / heatwave alerts overlaid on the same view as asset risk</a:t>
            </a:r>
            <a:endParaRPr lang="en-US" sz="1100" dirty="0"/>
          </a:p>
        </p:txBody>
      </p:sp>
      <p:sp>
        <p:nvSpPr>
          <p:cNvPr id="13" name="Shape 10"/>
          <p:cNvSpPr/>
          <p:nvPr/>
        </p:nvSpPr>
        <p:spPr>
          <a:xfrm>
            <a:off x="7818120" y="3959352"/>
            <a:ext cx="109728" cy="109728"/>
          </a:xfrm>
          <a:prstGeom prst="ellipse">
            <a:avLst/>
          </a:prstGeom>
          <a:solidFill>
            <a:srgbClr val="F5A623"/>
          </a:solidFill>
          <a:ln/>
        </p:spPr>
      </p:sp>
      <p:sp>
        <p:nvSpPr>
          <p:cNvPr id="14" name="Text 11"/>
          <p:cNvSpPr txBox="1"/>
          <p:nvPr/>
        </p:nvSpPr>
        <p:spPr>
          <a:xfrm>
            <a:off x="8046720" y="3831336"/>
            <a:ext cx="3566160" cy="320040"/>
          </a:xfrm>
          <a:prstGeom prst="rect">
            <a:avLst/>
          </a:prstGeom>
          <a:noFill/>
          <a:ln/>
        </p:spPr>
        <p:txBody>
          <a:bodyPr wrap="square" lIns="0" tIns="0" rIns="0" bIns="0" rtlCol="0" anchor="ctr"/>
          <a:lstStyle/>
          <a:p>
            <a:pPr indent="0" marL="0">
              <a:buNone/>
            </a:pPr>
            <a:r>
              <a:rPr lang="en-US" sz="1350" b="1" dirty="0">
                <a:solidFill>
                  <a:srgbClr val="1B2A38"/>
                </a:solidFill>
                <a:latin typeface="Calibri" pitchFamily="34" charset="0"/>
                <a:ea typeface="Calibri" pitchFamily="34" charset="-122"/>
                <a:cs typeface="Calibri" pitchFamily="34" charset="-120"/>
              </a:rPr>
              <a:t>Risk distribution</a:t>
            </a:r>
            <a:endParaRPr lang="en-US" sz="1350" dirty="0"/>
          </a:p>
        </p:txBody>
      </p:sp>
      <p:sp>
        <p:nvSpPr>
          <p:cNvPr id="15" name="Text 12"/>
          <p:cNvSpPr txBox="1"/>
          <p:nvPr/>
        </p:nvSpPr>
        <p:spPr>
          <a:xfrm>
            <a:off x="8046720" y="4142232"/>
            <a:ext cx="3566160" cy="685800"/>
          </a:xfrm>
          <a:prstGeom prst="rect">
            <a:avLst/>
          </a:prstGeom>
          <a:noFill/>
          <a:ln/>
        </p:spPr>
        <p:txBody>
          <a:bodyPr wrap="square" lIns="0" tIns="0" rIns="0" bIns="0" rtlCol="0" anchor="ctr"/>
          <a:lstStyle/>
          <a:p>
            <a:pPr indent="0" marL="0">
              <a:lnSpc>
                <a:spcPct val="125000"/>
              </a:lnSpc>
              <a:buNone/>
            </a:pPr>
            <a:r>
              <a:rPr lang="en-US" sz="1100" dirty="0">
                <a:solidFill>
                  <a:srgbClr val="62727C"/>
                </a:solidFill>
                <a:latin typeface="Calibri" pitchFamily="34" charset="0"/>
                <a:ea typeface="Calibri" pitchFamily="34" charset="-122"/>
                <a:cs typeface="Calibri" pitchFamily="34" charset="-120"/>
              </a:rPr>
              <a:t>Every transformer, substation &amp; feeder bucketed Critical → Low, state by state</a:t>
            </a:r>
            <a:endParaRPr lang="en-US" sz="1100" dirty="0"/>
          </a:p>
        </p:txBody>
      </p:sp>
      <p:sp>
        <p:nvSpPr>
          <p:cNvPr id="16" name="Text 13"/>
          <p:cNvSpPr/>
          <p:nvPr/>
        </p:nvSpPr>
        <p:spPr>
          <a:xfrm>
            <a:off x="11521440" y="6510528"/>
            <a:ext cx="548640" cy="274320"/>
          </a:xfrm>
          <a:prstGeom prst="rect">
            <a:avLst/>
          </a:prstGeom>
          <a:noFill/>
          <a:ln/>
        </p:spPr>
        <p:txBody>
          <a:bodyPr wrap="square" rtlCol="0" anchor="ctr"/>
          <a:lstStyle/>
          <a:p>
            <a:pPr algn="r" indent="0" marL="0">
              <a:buNone/>
            </a:pPr>
            <a:r>
              <a:rPr lang="en-US" sz="1000" dirty="0">
                <a:solidFill>
                  <a:srgbClr val="A7B0B8"/>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250" b="1" spc="200" kern="0" dirty="0">
                <a:solidFill>
                  <a:srgbClr val="F5A623"/>
                </a:solidFill>
                <a:latin typeface="Calibri" pitchFamily="34" charset="0"/>
                <a:ea typeface="Calibri" pitchFamily="34" charset="-122"/>
                <a:cs typeface="Calibri" pitchFamily="34" charset="-120"/>
              </a:rPr>
              <a:t>IN ACTION — PRIORITISED MAINTENANCE</a:t>
            </a:r>
            <a:endParaRPr lang="en-US" sz="1250" dirty="0"/>
          </a:p>
        </p:txBody>
      </p:sp>
      <p:sp>
        <p:nvSpPr>
          <p:cNvPr id="3" name="Text 1"/>
          <p:cNvSpPr txBox="1"/>
          <p:nvPr/>
        </p:nvSpPr>
        <p:spPr>
          <a:xfrm>
            <a:off x="548640" y="713232"/>
            <a:ext cx="9601200" cy="731520"/>
          </a:xfrm>
          <a:prstGeom prst="rect">
            <a:avLst/>
          </a:prstGeom>
          <a:noFill/>
          <a:ln/>
        </p:spPr>
        <p:txBody>
          <a:bodyPr wrap="square" lIns="0" tIns="0" rIns="0" bIns="0" rtlCol="0" anchor="ctr"/>
          <a:lstStyle/>
          <a:p>
            <a:pPr indent="0" marL="0">
              <a:buNone/>
            </a:pPr>
            <a:r>
              <a:rPr lang="en-US" sz="3200" b="1" dirty="0">
                <a:solidFill>
                  <a:srgbClr val="1B2A38"/>
                </a:solidFill>
                <a:latin typeface="Cambria" pitchFamily="34" charset="0"/>
                <a:ea typeface="Cambria" pitchFamily="34" charset="-122"/>
                <a:cs typeface="Cambria" pitchFamily="34" charset="-120"/>
              </a:rPr>
              <a:t>The AI tells crews exactly what to fix first</a:t>
            </a:r>
            <a:endParaRPr lang="en-US" sz="3200" dirty="0"/>
          </a:p>
        </p:txBody>
      </p:sp>
      <p:sp>
        <p:nvSpPr>
          <p:cNvPr id="4" name="Shape 2"/>
          <p:cNvSpPr/>
          <p:nvPr/>
        </p:nvSpPr>
        <p:spPr>
          <a:xfrm>
            <a:off x="493776" y="1499616"/>
            <a:ext cx="11173968" cy="3355848"/>
          </a:xfrm>
          <a:prstGeom prst="roundRect">
            <a:avLst>
              <a:gd name="adj" fmla="val 2180"/>
            </a:avLst>
          </a:prstGeom>
          <a:solidFill>
            <a:srgbClr val="FFFFFF"/>
          </a:solidFill>
          <a:ln w="12700">
            <a:solidFill>
              <a:srgbClr val="D8DEE3"/>
            </a:solidFill>
            <a:prstDash val="solid"/>
          </a:ln>
          <a:effectLst>
            <a:outerShdw sx="100000" sy="100000" kx="0" ky="0" algn="bl" rotWithShape="0" blurRad="127000" dist="38100" dir="5400000">
              <a:srgbClr val="1B2A38">
                <a:alpha val="25000"/>
              </a:srgbClr>
            </a:outerShdw>
          </a:effectLst>
        </p:spPr>
      </p:sp>
      <p:pic>
        <p:nvPicPr>
          <p:cNvPr id="5" name="Image 0" descr="/home/claude/ppt/assets/maintenance_queue.jpg">    </p:cNvPr>
          <p:cNvPicPr>
            <a:picLocks noChangeAspect="1"/>
          </p:cNvPicPr>
          <p:nvPr/>
        </p:nvPicPr>
        <p:blipFill>
          <a:blip r:embed="rId1"/>
          <a:srcRect l="0" r="0" t="0" b="0"/>
          <a:stretch/>
        </p:blipFill>
        <p:spPr>
          <a:xfrm>
            <a:off x="548640" y="1554480"/>
            <a:ext cx="11064240" cy="3246120"/>
          </a:xfrm>
          <a:prstGeom prst="rect">
            <a:avLst/>
          </a:prstGeom>
        </p:spPr>
      </p:pic>
      <p:sp>
        <p:nvSpPr>
          <p:cNvPr id="6" name="Text 3"/>
          <p:cNvSpPr txBox="1"/>
          <p:nvPr/>
        </p:nvSpPr>
        <p:spPr>
          <a:xfrm>
            <a:off x="548640" y="5029200"/>
            <a:ext cx="7680960" cy="365760"/>
          </a:xfrm>
          <a:prstGeom prst="rect">
            <a:avLst/>
          </a:prstGeom>
          <a:noFill/>
          <a:ln/>
        </p:spPr>
        <p:txBody>
          <a:bodyPr wrap="square" lIns="0" tIns="0" rIns="0" bIns="0" rtlCol="0" anchor="ctr"/>
          <a:lstStyle/>
          <a:p>
            <a:pPr indent="0" marL="0">
              <a:buNone/>
            </a:pPr>
            <a:r>
              <a:rPr lang="en-US" sz="1050" i="1" dirty="0">
                <a:solidFill>
                  <a:srgbClr val="62727C"/>
                </a:solidFill>
                <a:latin typeface="Calibri" pitchFamily="34" charset="0"/>
                <a:ea typeface="Calibri" pitchFamily="34" charset="-122"/>
                <a:cs typeface="Calibri" pitchFamily="34" charset="-120"/>
              </a:rPr>
              <a:t>AI-generated priority queue — ranked, explained, and awaiting administrator sign-off before dispatch</a:t>
            </a:r>
            <a:endParaRPr lang="en-US" sz="1050" dirty="0"/>
          </a:p>
        </p:txBody>
      </p:sp>
      <p:sp>
        <p:nvSpPr>
          <p:cNvPr id="7" name="Shape 4"/>
          <p:cNvSpPr/>
          <p:nvPr/>
        </p:nvSpPr>
        <p:spPr>
          <a:xfrm>
            <a:off x="548640" y="5532120"/>
            <a:ext cx="1161288" cy="365760"/>
          </a:xfrm>
          <a:prstGeom prst="roundRect">
            <a:avLst>
              <a:gd name="adj" fmla="val 50000"/>
            </a:avLst>
          </a:prstGeom>
          <a:solidFill>
            <a:srgbClr val="E6484F"/>
          </a:solidFill>
          <a:ln/>
        </p:spPr>
      </p:sp>
      <p:sp>
        <p:nvSpPr>
          <p:cNvPr id="8" name="Text 5"/>
          <p:cNvSpPr txBox="1"/>
          <p:nvPr/>
        </p:nvSpPr>
        <p:spPr>
          <a:xfrm>
            <a:off x="548640" y="5532120"/>
            <a:ext cx="1161288"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Risk × 0.4</a:t>
            </a:r>
            <a:endParaRPr lang="en-US" sz="1100" dirty="0"/>
          </a:p>
        </p:txBody>
      </p:sp>
      <p:sp>
        <p:nvSpPr>
          <p:cNvPr id="9" name="Shape 6"/>
          <p:cNvSpPr/>
          <p:nvPr/>
        </p:nvSpPr>
        <p:spPr>
          <a:xfrm>
            <a:off x="1874520" y="5532120"/>
            <a:ext cx="1833372" cy="365760"/>
          </a:xfrm>
          <a:prstGeom prst="roundRect">
            <a:avLst>
              <a:gd name="adj" fmla="val 50000"/>
            </a:avLst>
          </a:prstGeom>
          <a:solidFill>
            <a:srgbClr val="F2994A"/>
          </a:solidFill>
          <a:ln/>
        </p:spPr>
      </p:sp>
      <p:sp>
        <p:nvSpPr>
          <p:cNvPr id="10" name="Text 7"/>
          <p:cNvSpPr txBox="1"/>
          <p:nvPr/>
        </p:nvSpPr>
        <p:spPr>
          <a:xfrm>
            <a:off x="1874520" y="5532120"/>
            <a:ext cx="1833372"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Grid Impact × 0.3</a:t>
            </a:r>
            <a:endParaRPr lang="en-US" sz="1100" dirty="0"/>
          </a:p>
        </p:txBody>
      </p:sp>
      <p:sp>
        <p:nvSpPr>
          <p:cNvPr id="11" name="Shape 8"/>
          <p:cNvSpPr/>
          <p:nvPr/>
        </p:nvSpPr>
        <p:spPr>
          <a:xfrm>
            <a:off x="3872484" y="5532120"/>
            <a:ext cx="2025396" cy="365760"/>
          </a:xfrm>
          <a:prstGeom prst="roundRect">
            <a:avLst>
              <a:gd name="adj" fmla="val 50000"/>
            </a:avLst>
          </a:prstGeom>
          <a:solidFill>
            <a:srgbClr val="E5B93B"/>
          </a:solidFill>
          <a:ln/>
        </p:spPr>
      </p:sp>
      <p:sp>
        <p:nvSpPr>
          <p:cNvPr id="12" name="Text 9"/>
          <p:cNvSpPr txBox="1"/>
          <p:nvPr/>
        </p:nvSpPr>
        <p:spPr>
          <a:xfrm>
            <a:off x="3872484" y="5532120"/>
            <a:ext cx="2025396"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Failure Prob. × 0.2</a:t>
            </a:r>
            <a:endParaRPr lang="en-US" sz="1100" dirty="0"/>
          </a:p>
        </p:txBody>
      </p:sp>
      <p:sp>
        <p:nvSpPr>
          <p:cNvPr id="13" name="Shape 10"/>
          <p:cNvSpPr/>
          <p:nvPr/>
        </p:nvSpPr>
        <p:spPr>
          <a:xfrm>
            <a:off x="6062472" y="5532120"/>
            <a:ext cx="1449324" cy="365760"/>
          </a:xfrm>
          <a:prstGeom prst="roundRect">
            <a:avLst>
              <a:gd name="adj" fmla="val 50000"/>
            </a:avLst>
          </a:prstGeom>
          <a:solidFill>
            <a:srgbClr val="1C7293"/>
          </a:solidFill>
          <a:ln/>
        </p:spPr>
      </p:sp>
      <p:sp>
        <p:nvSpPr>
          <p:cNvPr id="14" name="Text 11"/>
          <p:cNvSpPr txBox="1"/>
          <p:nvPr/>
        </p:nvSpPr>
        <p:spPr>
          <a:xfrm>
            <a:off x="6062472" y="5532120"/>
            <a:ext cx="144932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Urgency × 0.1</a:t>
            </a:r>
            <a:endParaRPr lang="en-US" sz="1100" dirty="0"/>
          </a:p>
        </p:txBody>
      </p:sp>
      <p:sp>
        <p:nvSpPr>
          <p:cNvPr id="15" name="Text 12"/>
          <p:cNvSpPr txBox="1"/>
          <p:nvPr/>
        </p:nvSpPr>
        <p:spPr>
          <a:xfrm>
            <a:off x="7722108" y="5532120"/>
            <a:ext cx="3931920" cy="365760"/>
          </a:xfrm>
          <a:prstGeom prst="rect">
            <a:avLst/>
          </a:prstGeom>
          <a:noFill/>
          <a:ln/>
        </p:spPr>
        <p:txBody>
          <a:bodyPr wrap="square" lIns="0" tIns="0" rIns="0" bIns="0" rtlCol="0" anchor="ctr"/>
          <a:lstStyle/>
          <a:p>
            <a:pPr indent="0" marL="0">
              <a:buNone/>
            </a:pPr>
            <a:r>
              <a:rPr lang="en-US" sz="1100" i="1" dirty="0">
                <a:solidFill>
                  <a:srgbClr val="62727C"/>
                </a:solidFill>
                <a:latin typeface="Calibri" pitchFamily="34" charset="0"/>
                <a:ea typeface="Calibri" pitchFamily="34" charset="-122"/>
                <a:cs typeface="Calibri" pitchFamily="34" charset="-120"/>
              </a:rPr>
              <a:t>= Priority Score → Recommended Action &amp; Status</a:t>
            </a:r>
            <a:endParaRPr lang="en-US" sz="1100" dirty="0"/>
          </a:p>
        </p:txBody>
      </p:sp>
      <p:sp>
        <p:nvSpPr>
          <p:cNvPr id="16" name="Text 13"/>
          <p:cNvSpPr/>
          <p:nvPr/>
        </p:nvSpPr>
        <p:spPr>
          <a:xfrm>
            <a:off x="11521440" y="6510528"/>
            <a:ext cx="548640" cy="274320"/>
          </a:xfrm>
          <a:prstGeom prst="rect">
            <a:avLst/>
          </a:prstGeom>
          <a:noFill/>
          <a:ln/>
        </p:spPr>
        <p:txBody>
          <a:bodyPr wrap="square" rtlCol="0" anchor="ctr"/>
          <a:lstStyle/>
          <a:p>
            <a:pPr algn="r" indent="0" marL="0">
              <a:buNone/>
            </a:pPr>
            <a:r>
              <a:rPr lang="en-US" sz="1000" dirty="0">
                <a:solidFill>
                  <a:srgbClr val="A7B0B8"/>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8242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250" b="1" spc="200" kern="0" dirty="0">
                <a:solidFill>
                  <a:srgbClr val="F5A623"/>
                </a:solidFill>
                <a:latin typeface="Calibri" pitchFamily="34" charset="0"/>
                <a:ea typeface="Calibri" pitchFamily="34" charset="-122"/>
                <a:cs typeface="Calibri" pitchFamily="34" charset="-120"/>
              </a:rPr>
              <a:t>IN ACTION — TRUSTWORTHY AI</a:t>
            </a:r>
            <a:endParaRPr lang="en-US" sz="1250" dirty="0"/>
          </a:p>
        </p:txBody>
      </p:sp>
      <p:sp>
        <p:nvSpPr>
          <p:cNvPr id="3" name="Text 1"/>
          <p:cNvSpPr txBox="1"/>
          <p:nvPr/>
        </p:nvSpPr>
        <p:spPr>
          <a:xfrm>
            <a:off x="548640" y="713232"/>
            <a:ext cx="8686800" cy="73152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Explainable predictions, human-approved actions</a:t>
            </a:r>
            <a:endParaRPr lang="en-US" sz="2800" dirty="0"/>
          </a:p>
        </p:txBody>
      </p:sp>
      <p:sp>
        <p:nvSpPr>
          <p:cNvPr id="4" name="Shape 2"/>
          <p:cNvSpPr/>
          <p:nvPr/>
        </p:nvSpPr>
        <p:spPr>
          <a:xfrm>
            <a:off x="493776" y="1545336"/>
            <a:ext cx="7333488" cy="3602736"/>
          </a:xfrm>
          <a:prstGeom prst="roundRect">
            <a:avLst>
              <a:gd name="adj" fmla="val 2030"/>
            </a:avLst>
          </a:prstGeom>
          <a:solidFill>
            <a:srgbClr val="FFFFFF"/>
          </a:solidFill>
          <a:ln w="12700">
            <a:solidFill>
              <a:srgbClr val="D8DEE3"/>
            </a:solidFill>
            <a:prstDash val="solid"/>
          </a:ln>
          <a:effectLst>
            <a:outerShdw sx="100000" sy="100000" kx="0" ky="0" algn="bl" rotWithShape="0" blurRad="127000" dist="38100" dir="5400000">
              <a:srgbClr val="1B2A38">
                <a:alpha val="25000"/>
              </a:srgbClr>
            </a:outerShdw>
          </a:effectLst>
        </p:spPr>
      </p:sp>
      <p:pic>
        <p:nvPicPr>
          <p:cNvPr id="5" name="Image 0" descr="/home/claude/ppt/assets/ai_governance.jpg">    </p:cNvPr>
          <p:cNvPicPr>
            <a:picLocks noChangeAspect="1"/>
          </p:cNvPicPr>
          <p:nvPr/>
        </p:nvPicPr>
        <p:blipFill>
          <a:blip r:embed="rId1"/>
          <a:srcRect l="0" r="0" t="0" b="0"/>
          <a:stretch/>
        </p:blipFill>
        <p:spPr>
          <a:xfrm>
            <a:off x="548640" y="1600200"/>
            <a:ext cx="7223760" cy="3493008"/>
          </a:xfrm>
          <a:prstGeom prst="rect">
            <a:avLst/>
          </a:prstGeom>
        </p:spPr>
      </p:pic>
      <p:sp>
        <p:nvSpPr>
          <p:cNvPr id="6" name="Text 3"/>
          <p:cNvSpPr txBox="1"/>
          <p:nvPr/>
        </p:nvSpPr>
        <p:spPr>
          <a:xfrm>
            <a:off x="548640" y="5193792"/>
            <a:ext cx="7223760" cy="365760"/>
          </a:xfrm>
          <a:prstGeom prst="rect">
            <a:avLst/>
          </a:prstGeom>
          <a:noFill/>
          <a:ln/>
        </p:spPr>
        <p:txBody>
          <a:bodyPr wrap="square" lIns="0" tIns="0" rIns="0" bIns="0" rtlCol="0" anchor="ctr"/>
          <a:lstStyle/>
          <a:p>
            <a:pPr indent="0" marL="0">
              <a:buNone/>
            </a:pPr>
            <a:r>
              <a:rPr lang="en-US" sz="1050" i="1" dirty="0">
                <a:solidFill>
                  <a:srgbClr val="8592A0"/>
                </a:solidFill>
                <a:latin typeface="Calibri" pitchFamily="34" charset="0"/>
                <a:ea typeface="Calibri" pitchFamily="34" charset="-122"/>
                <a:cs typeface="Calibri" pitchFamily="34" charset="-120"/>
              </a:rPr>
              <a:t>Risk Predictions &amp; AI Governance — approve, reject, or override, with a mandatory note on every decision</a:t>
            </a:r>
            <a:endParaRPr lang="en-US" sz="1050" dirty="0"/>
          </a:p>
        </p:txBody>
      </p:sp>
      <p:sp>
        <p:nvSpPr>
          <p:cNvPr id="7" name="Text 4"/>
          <p:cNvSpPr txBox="1"/>
          <p:nvPr/>
        </p:nvSpPr>
        <p:spPr>
          <a:xfrm>
            <a:off x="8092440" y="1691640"/>
            <a:ext cx="3566160" cy="502920"/>
          </a:xfrm>
          <a:prstGeom prst="rect">
            <a:avLst/>
          </a:prstGeom>
          <a:noFill/>
          <a:ln/>
        </p:spPr>
        <p:txBody>
          <a:bodyPr wrap="square" lIns="0" tIns="0" rIns="0" bIns="0" rtlCol="0" anchor="ctr"/>
          <a:lstStyle/>
          <a:p>
            <a:pPr indent="0" marL="0">
              <a:buNone/>
            </a:pPr>
            <a:r>
              <a:rPr lang="en-US" sz="2600" b="1" dirty="0">
                <a:solidFill>
                  <a:srgbClr val="F5A623"/>
                </a:solidFill>
                <a:latin typeface="Cambria" pitchFamily="34" charset="0"/>
                <a:ea typeface="Cambria" pitchFamily="34" charset="-122"/>
                <a:cs typeface="Cambria" pitchFamily="34" charset="-120"/>
              </a:rPr>
              <a:t>100%</a:t>
            </a:r>
            <a:endParaRPr lang="en-US" sz="2600" dirty="0"/>
          </a:p>
        </p:txBody>
      </p:sp>
      <p:sp>
        <p:nvSpPr>
          <p:cNvPr id="8" name="Text 5"/>
          <p:cNvSpPr txBox="1"/>
          <p:nvPr/>
        </p:nvSpPr>
        <p:spPr>
          <a:xfrm>
            <a:off x="8092440" y="2194560"/>
            <a:ext cx="3566160" cy="502920"/>
          </a:xfrm>
          <a:prstGeom prst="rect">
            <a:avLst/>
          </a:prstGeom>
          <a:noFill/>
          <a:ln/>
        </p:spPr>
        <p:txBody>
          <a:bodyPr wrap="square" lIns="0" tIns="0" rIns="0" bIns="0" rtlCol="0" anchor="ctr"/>
          <a:lstStyle/>
          <a:p>
            <a:pPr indent="0" marL="0">
              <a:lnSpc>
                <a:spcPct val="120000"/>
              </a:lnSpc>
              <a:buNone/>
            </a:pPr>
            <a:r>
              <a:rPr lang="en-US" sz="1200" dirty="0">
                <a:solidFill>
                  <a:srgbClr val="CFE0EA"/>
                </a:solidFill>
                <a:latin typeface="Calibri" pitchFamily="34" charset="0"/>
                <a:ea typeface="Calibri" pitchFamily="34" charset="-122"/>
                <a:cs typeface="Calibri" pitchFamily="34" charset="-120"/>
              </a:rPr>
              <a:t>confidence shown per prediction, not hidden</a:t>
            </a:r>
            <a:endParaRPr lang="en-US" sz="1200" dirty="0"/>
          </a:p>
        </p:txBody>
      </p:sp>
      <p:sp>
        <p:nvSpPr>
          <p:cNvPr id="9" name="Text 6"/>
          <p:cNvSpPr txBox="1"/>
          <p:nvPr/>
        </p:nvSpPr>
        <p:spPr>
          <a:xfrm>
            <a:off x="8092440" y="2788920"/>
            <a:ext cx="3566160" cy="502920"/>
          </a:xfrm>
          <a:prstGeom prst="rect">
            <a:avLst/>
          </a:prstGeom>
          <a:noFill/>
          <a:ln/>
        </p:spPr>
        <p:txBody>
          <a:bodyPr wrap="square" lIns="0" tIns="0" rIns="0" bIns="0" rtlCol="0" anchor="ctr"/>
          <a:lstStyle/>
          <a:p>
            <a:pPr indent="0" marL="0">
              <a:buNone/>
            </a:pPr>
            <a:r>
              <a:rPr lang="en-US" sz="2600" b="1" dirty="0">
                <a:solidFill>
                  <a:srgbClr val="F5A623"/>
                </a:solidFill>
                <a:latin typeface="Cambria" pitchFamily="34" charset="0"/>
                <a:ea typeface="Cambria" pitchFamily="34" charset="-122"/>
                <a:cs typeface="Cambria" pitchFamily="34" charset="-120"/>
              </a:rPr>
              <a:t>v1.0.0</a:t>
            </a:r>
            <a:endParaRPr lang="en-US" sz="2600" dirty="0"/>
          </a:p>
        </p:txBody>
      </p:sp>
      <p:sp>
        <p:nvSpPr>
          <p:cNvPr id="10" name="Text 7"/>
          <p:cNvSpPr txBox="1"/>
          <p:nvPr/>
        </p:nvSpPr>
        <p:spPr>
          <a:xfrm>
            <a:off x="8092440" y="3291840"/>
            <a:ext cx="3566160" cy="502920"/>
          </a:xfrm>
          <a:prstGeom prst="rect">
            <a:avLst/>
          </a:prstGeom>
          <a:noFill/>
          <a:ln/>
        </p:spPr>
        <p:txBody>
          <a:bodyPr wrap="square" lIns="0" tIns="0" rIns="0" bIns="0" rtlCol="0" anchor="ctr"/>
          <a:lstStyle/>
          <a:p>
            <a:pPr indent="0" marL="0">
              <a:lnSpc>
                <a:spcPct val="120000"/>
              </a:lnSpc>
              <a:buNone/>
            </a:pPr>
            <a:r>
              <a:rPr lang="en-US" sz="1200" dirty="0">
                <a:solidFill>
                  <a:srgbClr val="CFE0EA"/>
                </a:solidFill>
                <a:latin typeface="Calibri" pitchFamily="34" charset="0"/>
                <a:ea typeface="Calibri" pitchFamily="34" charset="-122"/>
                <a:cs typeface="Calibri" pitchFamily="34" charset="-120"/>
              </a:rPr>
              <a:t>every prediction is versioned &amp; timestamped</a:t>
            </a:r>
            <a:endParaRPr lang="en-US" sz="1200" dirty="0"/>
          </a:p>
        </p:txBody>
      </p:sp>
      <p:sp>
        <p:nvSpPr>
          <p:cNvPr id="11" name="Text 8"/>
          <p:cNvSpPr txBox="1"/>
          <p:nvPr/>
        </p:nvSpPr>
        <p:spPr>
          <a:xfrm>
            <a:off x="8092440" y="3886200"/>
            <a:ext cx="3566160" cy="502920"/>
          </a:xfrm>
          <a:prstGeom prst="rect">
            <a:avLst/>
          </a:prstGeom>
          <a:noFill/>
          <a:ln/>
        </p:spPr>
        <p:txBody>
          <a:bodyPr wrap="square" lIns="0" tIns="0" rIns="0" bIns="0" rtlCol="0" anchor="ctr"/>
          <a:lstStyle/>
          <a:p>
            <a:pPr indent="0" marL="0">
              <a:buNone/>
            </a:pPr>
            <a:r>
              <a:rPr lang="en-US" sz="2600" b="1" dirty="0">
                <a:solidFill>
                  <a:srgbClr val="F5A623"/>
                </a:solidFill>
                <a:latin typeface="Cambria" pitchFamily="34" charset="0"/>
                <a:ea typeface="Cambria" pitchFamily="34" charset="-122"/>
                <a:cs typeface="Cambria" pitchFamily="34" charset="-120"/>
              </a:rPr>
              <a:t>3 actions</a:t>
            </a:r>
            <a:endParaRPr lang="en-US" sz="2600" dirty="0"/>
          </a:p>
        </p:txBody>
      </p:sp>
      <p:sp>
        <p:nvSpPr>
          <p:cNvPr id="12" name="Text 9"/>
          <p:cNvSpPr txBox="1"/>
          <p:nvPr/>
        </p:nvSpPr>
        <p:spPr>
          <a:xfrm>
            <a:off x="8092440" y="4389120"/>
            <a:ext cx="3566160" cy="502920"/>
          </a:xfrm>
          <a:prstGeom prst="rect">
            <a:avLst/>
          </a:prstGeom>
          <a:noFill/>
          <a:ln/>
        </p:spPr>
        <p:txBody>
          <a:bodyPr wrap="square" lIns="0" tIns="0" rIns="0" bIns="0" rtlCol="0" anchor="ctr"/>
          <a:lstStyle/>
          <a:p>
            <a:pPr indent="0" marL="0">
              <a:lnSpc>
                <a:spcPct val="120000"/>
              </a:lnSpc>
              <a:buNone/>
            </a:pPr>
            <a:r>
              <a:rPr lang="en-US" sz="1200" dirty="0">
                <a:solidFill>
                  <a:srgbClr val="CFE0EA"/>
                </a:solidFill>
                <a:latin typeface="Calibri" pitchFamily="34" charset="0"/>
                <a:ea typeface="Calibri" pitchFamily="34" charset="-122"/>
                <a:cs typeface="Calibri" pitchFamily="34" charset="-120"/>
              </a:rPr>
              <a:t>Approve · Reject · Override — reason required</a:t>
            </a:r>
            <a:endParaRPr lang="en-US" sz="1200" dirty="0"/>
          </a:p>
        </p:txBody>
      </p:sp>
      <p:sp>
        <p:nvSpPr>
          <p:cNvPr id="13" name="Text 10"/>
          <p:cNvSpPr/>
          <p:nvPr/>
        </p:nvSpPr>
        <p:spPr>
          <a:xfrm>
            <a:off x="11521440" y="6510528"/>
            <a:ext cx="548640" cy="274320"/>
          </a:xfrm>
          <a:prstGeom prst="rect">
            <a:avLst/>
          </a:prstGeom>
          <a:noFill/>
          <a:ln/>
        </p:spPr>
        <p:txBody>
          <a:bodyPr wrap="square" rtlCol="0" anchor="ctr"/>
          <a:lstStyle/>
          <a:p>
            <a:pPr algn="r" indent="0" marL="0">
              <a:buNone/>
            </a:pPr>
            <a:r>
              <a:rPr lang="en-US" sz="1000" dirty="0">
                <a:solidFill>
                  <a:srgbClr val="8592A0"/>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250" b="1" spc="200" kern="0" dirty="0">
                <a:solidFill>
                  <a:srgbClr val="F5A623"/>
                </a:solidFill>
                <a:latin typeface="Calibri" pitchFamily="34" charset="0"/>
                <a:ea typeface="Calibri" pitchFamily="34" charset="-122"/>
                <a:cs typeface="Calibri" pitchFamily="34" charset="-120"/>
              </a:rPr>
              <a:t>IN ACTION — END TO END</a:t>
            </a:r>
            <a:endParaRPr lang="en-US" sz="1250" dirty="0"/>
          </a:p>
        </p:txBody>
      </p:sp>
      <p:sp>
        <p:nvSpPr>
          <p:cNvPr id="3" name="Text 1"/>
          <p:cNvSpPr txBox="1"/>
          <p:nvPr/>
        </p:nvSpPr>
        <p:spPr>
          <a:xfrm>
            <a:off x="548640" y="713232"/>
            <a:ext cx="9144000" cy="731520"/>
          </a:xfrm>
          <a:prstGeom prst="rect">
            <a:avLst/>
          </a:prstGeom>
          <a:noFill/>
          <a:ln/>
        </p:spPr>
        <p:txBody>
          <a:bodyPr wrap="square" lIns="0" tIns="0" rIns="0" bIns="0" rtlCol="0" anchor="ctr"/>
          <a:lstStyle/>
          <a:p>
            <a:pPr indent="0" marL="0">
              <a:buNone/>
            </a:pPr>
            <a:r>
              <a:rPr lang="en-US" sz="3200" b="1" dirty="0">
                <a:solidFill>
                  <a:srgbClr val="1B2A38"/>
                </a:solidFill>
                <a:latin typeface="Cambria" pitchFamily="34" charset="0"/>
                <a:ea typeface="Cambria" pitchFamily="34" charset="-122"/>
                <a:cs typeface="Cambria" pitchFamily="34" charset="-120"/>
              </a:rPr>
              <a:t>From state admin to boots on the ground</a:t>
            </a:r>
            <a:endParaRPr lang="en-US" sz="3200" dirty="0"/>
          </a:p>
        </p:txBody>
      </p:sp>
      <p:sp>
        <p:nvSpPr>
          <p:cNvPr id="4" name="Shape 2"/>
          <p:cNvSpPr/>
          <p:nvPr/>
        </p:nvSpPr>
        <p:spPr>
          <a:xfrm>
            <a:off x="493776" y="1545336"/>
            <a:ext cx="5458968" cy="2395728"/>
          </a:xfrm>
          <a:prstGeom prst="roundRect">
            <a:avLst>
              <a:gd name="adj" fmla="val 3053"/>
            </a:avLst>
          </a:prstGeom>
          <a:solidFill>
            <a:srgbClr val="FFFFFF"/>
          </a:solidFill>
          <a:ln w="12700">
            <a:solidFill>
              <a:srgbClr val="D8DEE3"/>
            </a:solidFill>
            <a:prstDash val="solid"/>
          </a:ln>
          <a:effectLst>
            <a:outerShdw sx="100000" sy="100000" kx="0" ky="0" algn="bl" rotWithShape="0" blurRad="127000" dist="38100" dir="5400000">
              <a:srgbClr val="1B2A38">
                <a:alpha val="25000"/>
              </a:srgbClr>
            </a:outerShdw>
          </a:effectLst>
        </p:spPr>
      </p:sp>
      <p:pic>
        <p:nvPicPr>
          <p:cNvPr id="5" name="Image 0" descr="/home/claude/ppt/assets/asset_registry.jpg">    </p:cNvPr>
          <p:cNvPicPr>
            <a:picLocks noChangeAspect="1"/>
          </p:cNvPicPr>
          <p:nvPr/>
        </p:nvPicPr>
        <p:blipFill>
          <a:blip r:embed="rId1"/>
          <a:srcRect l="0" r="0" t="0" b="0"/>
          <a:stretch/>
        </p:blipFill>
        <p:spPr>
          <a:xfrm>
            <a:off x="548640" y="1600200"/>
            <a:ext cx="5349240" cy="2286000"/>
          </a:xfrm>
          <a:prstGeom prst="rect">
            <a:avLst/>
          </a:prstGeom>
        </p:spPr>
      </p:pic>
      <p:sp>
        <p:nvSpPr>
          <p:cNvPr id="6" name="Text 3"/>
          <p:cNvSpPr txBox="1"/>
          <p:nvPr/>
        </p:nvSpPr>
        <p:spPr>
          <a:xfrm>
            <a:off x="548640" y="3931920"/>
            <a:ext cx="5349240" cy="502920"/>
          </a:xfrm>
          <a:prstGeom prst="rect">
            <a:avLst/>
          </a:prstGeom>
          <a:noFill/>
          <a:ln/>
        </p:spPr>
        <p:txBody>
          <a:bodyPr wrap="square" lIns="0" tIns="0" rIns="0" bIns="0" rtlCol="0" anchor="ctr"/>
          <a:lstStyle/>
          <a:p>
            <a:pPr indent="0" marL="0">
              <a:lnSpc>
                <a:spcPct val="120000"/>
              </a:lnSpc>
              <a:buNone/>
            </a:pPr>
            <a:r>
              <a:rPr lang="en-US" sz="1000" i="1" dirty="0">
                <a:solidFill>
                  <a:srgbClr val="62727C"/>
                </a:solidFill>
                <a:latin typeface="Calibri" pitchFamily="34" charset="0"/>
                <a:ea typeface="Calibri" pitchFamily="34" charset="-122"/>
                <a:cs typeface="Calibri" pitchFamily="34" charset="-120"/>
              </a:rPr>
              <a:t>Asset Registry — every transformer, substation &amp; feeder, scored and geo-tagged</a:t>
            </a:r>
            <a:endParaRPr lang="en-US" sz="1000" dirty="0"/>
          </a:p>
        </p:txBody>
      </p:sp>
      <p:sp>
        <p:nvSpPr>
          <p:cNvPr id="7" name="Shape 4"/>
          <p:cNvSpPr/>
          <p:nvPr/>
        </p:nvSpPr>
        <p:spPr>
          <a:xfrm>
            <a:off x="6117336" y="1545336"/>
            <a:ext cx="5458968" cy="2395728"/>
          </a:xfrm>
          <a:prstGeom prst="roundRect">
            <a:avLst>
              <a:gd name="adj" fmla="val 3053"/>
            </a:avLst>
          </a:prstGeom>
          <a:solidFill>
            <a:srgbClr val="FFFFFF"/>
          </a:solidFill>
          <a:ln w="12700">
            <a:solidFill>
              <a:srgbClr val="D8DEE3"/>
            </a:solidFill>
            <a:prstDash val="solid"/>
          </a:ln>
          <a:effectLst>
            <a:outerShdw sx="100000" sy="100000" kx="0" ky="0" algn="bl" rotWithShape="0" blurRad="127000" dist="38100" dir="5400000">
              <a:srgbClr val="1B2A38">
                <a:alpha val="25000"/>
              </a:srgbClr>
            </a:outerShdw>
          </a:effectLst>
        </p:spPr>
      </p:sp>
      <p:pic>
        <p:nvPicPr>
          <p:cNvPr id="8" name="Image 1" descr="/home/claude/ppt/assets/worker_portal.jpg">    </p:cNvPr>
          <p:cNvPicPr>
            <a:picLocks noChangeAspect="1"/>
          </p:cNvPicPr>
          <p:nvPr/>
        </p:nvPicPr>
        <p:blipFill>
          <a:blip r:embed="rId2"/>
          <a:srcRect l="0" r="0" t="0" b="0"/>
          <a:stretch/>
        </p:blipFill>
        <p:spPr>
          <a:xfrm>
            <a:off x="6172200" y="1600200"/>
            <a:ext cx="5349240" cy="2286000"/>
          </a:xfrm>
          <a:prstGeom prst="rect">
            <a:avLst/>
          </a:prstGeom>
        </p:spPr>
      </p:pic>
      <p:sp>
        <p:nvSpPr>
          <p:cNvPr id="9" name="Text 5"/>
          <p:cNvSpPr txBox="1"/>
          <p:nvPr/>
        </p:nvSpPr>
        <p:spPr>
          <a:xfrm>
            <a:off x="6172200" y="3931920"/>
            <a:ext cx="5349240" cy="502920"/>
          </a:xfrm>
          <a:prstGeom prst="rect">
            <a:avLst/>
          </a:prstGeom>
          <a:noFill/>
          <a:ln/>
        </p:spPr>
        <p:txBody>
          <a:bodyPr wrap="square" lIns="0" tIns="0" rIns="0" bIns="0" rtlCol="0" anchor="ctr"/>
          <a:lstStyle/>
          <a:p>
            <a:pPr indent="0" marL="0">
              <a:lnSpc>
                <a:spcPct val="120000"/>
              </a:lnSpc>
              <a:buNone/>
            </a:pPr>
            <a:r>
              <a:rPr lang="en-US" sz="1000" i="1" dirty="0">
                <a:solidFill>
                  <a:srgbClr val="62727C"/>
                </a:solidFill>
                <a:latin typeface="Calibri" pitchFamily="34" charset="0"/>
                <a:ea typeface="Calibri" pitchFamily="34" charset="-122"/>
                <a:cs typeface="Calibri" pitchFamily="34" charset="-120"/>
              </a:rPr>
              <a:t>Worker Portal — field inspectors see assigned alerts and submit approved reports</a:t>
            </a:r>
            <a:endParaRPr lang="en-US" sz="1000" dirty="0"/>
          </a:p>
        </p:txBody>
      </p:sp>
      <p:sp>
        <p:nvSpPr>
          <p:cNvPr id="10" name="Shape 6"/>
          <p:cNvSpPr/>
          <p:nvPr/>
        </p:nvSpPr>
        <p:spPr>
          <a:xfrm>
            <a:off x="548640" y="4709160"/>
            <a:ext cx="2697480" cy="777240"/>
          </a:xfrm>
          <a:prstGeom prst="roundRect">
            <a:avLst>
              <a:gd name="adj" fmla="val 9412"/>
            </a:avLst>
          </a:prstGeom>
          <a:solidFill>
            <a:srgbClr val="F6F7F9"/>
          </a:solidFill>
          <a:ln w="12700">
            <a:solidFill>
              <a:srgbClr val="E4E8EB"/>
            </a:solidFill>
            <a:prstDash val="solid"/>
          </a:ln>
        </p:spPr>
      </p:sp>
      <p:sp>
        <p:nvSpPr>
          <p:cNvPr id="11" name="Text 7"/>
          <p:cNvSpPr txBox="1"/>
          <p:nvPr/>
        </p:nvSpPr>
        <p:spPr>
          <a:xfrm>
            <a:off x="685800" y="4709160"/>
            <a:ext cx="2423160" cy="777240"/>
          </a:xfrm>
          <a:prstGeom prst="rect">
            <a:avLst/>
          </a:prstGeom>
          <a:noFill/>
          <a:ln/>
        </p:spPr>
        <p:txBody>
          <a:bodyPr wrap="square" lIns="0" tIns="0" rIns="0" bIns="0" rtlCol="0" anchor="ctr"/>
          <a:lstStyle/>
          <a:p>
            <a:pPr indent="0" marL="0">
              <a:lnSpc>
                <a:spcPct val="115000"/>
              </a:lnSpc>
              <a:buNone/>
            </a:pPr>
            <a:r>
              <a:rPr lang="en-US" sz="1100" b="1" dirty="0">
                <a:solidFill>
                  <a:srgbClr val="1B2A38"/>
                </a:solidFill>
                <a:latin typeface="Calibri" pitchFamily="34" charset="0"/>
                <a:ea typeface="Calibri" pitchFamily="34" charset="-122"/>
                <a:cs typeface="Calibri" pitchFamily="34" charset="-120"/>
              </a:rPr>
              <a:t>Super Admin — national view</a:t>
            </a:r>
            <a:endParaRPr lang="en-US" sz="1100" dirty="0"/>
          </a:p>
        </p:txBody>
      </p:sp>
      <p:sp>
        <p:nvSpPr>
          <p:cNvPr id="12" name="Shape 8"/>
          <p:cNvSpPr/>
          <p:nvPr/>
        </p:nvSpPr>
        <p:spPr>
          <a:xfrm>
            <a:off x="3383280" y="4709160"/>
            <a:ext cx="2697480" cy="777240"/>
          </a:xfrm>
          <a:prstGeom prst="roundRect">
            <a:avLst>
              <a:gd name="adj" fmla="val 9412"/>
            </a:avLst>
          </a:prstGeom>
          <a:solidFill>
            <a:srgbClr val="F6F7F9"/>
          </a:solidFill>
          <a:ln w="12700">
            <a:solidFill>
              <a:srgbClr val="E4E8EB"/>
            </a:solidFill>
            <a:prstDash val="solid"/>
          </a:ln>
        </p:spPr>
      </p:sp>
      <p:sp>
        <p:nvSpPr>
          <p:cNvPr id="13" name="Text 9"/>
          <p:cNvSpPr txBox="1"/>
          <p:nvPr/>
        </p:nvSpPr>
        <p:spPr>
          <a:xfrm>
            <a:off x="3520440" y="4709160"/>
            <a:ext cx="2423160" cy="777240"/>
          </a:xfrm>
          <a:prstGeom prst="rect">
            <a:avLst/>
          </a:prstGeom>
          <a:noFill/>
          <a:ln/>
        </p:spPr>
        <p:txBody>
          <a:bodyPr wrap="square" lIns="0" tIns="0" rIns="0" bIns="0" rtlCol="0" anchor="ctr"/>
          <a:lstStyle/>
          <a:p>
            <a:pPr indent="0" marL="0">
              <a:lnSpc>
                <a:spcPct val="115000"/>
              </a:lnSpc>
              <a:buNone/>
            </a:pPr>
            <a:r>
              <a:rPr lang="en-US" sz="1100" b="1" dirty="0">
                <a:solidFill>
                  <a:srgbClr val="1B2A38"/>
                </a:solidFill>
                <a:latin typeface="Calibri" pitchFamily="34" charset="0"/>
                <a:ea typeface="Calibri" pitchFamily="34" charset="-122"/>
                <a:cs typeface="Calibri" pitchFamily="34" charset="-120"/>
              </a:rPr>
              <a:t>State Admin — state/district isolation</a:t>
            </a:r>
            <a:endParaRPr lang="en-US" sz="1100" dirty="0"/>
          </a:p>
        </p:txBody>
      </p:sp>
      <p:sp>
        <p:nvSpPr>
          <p:cNvPr id="14" name="Shape 10"/>
          <p:cNvSpPr/>
          <p:nvPr/>
        </p:nvSpPr>
        <p:spPr>
          <a:xfrm>
            <a:off x="6217920" y="4709160"/>
            <a:ext cx="2697480" cy="777240"/>
          </a:xfrm>
          <a:prstGeom prst="roundRect">
            <a:avLst>
              <a:gd name="adj" fmla="val 9412"/>
            </a:avLst>
          </a:prstGeom>
          <a:solidFill>
            <a:srgbClr val="F6F7F9"/>
          </a:solidFill>
          <a:ln w="12700">
            <a:solidFill>
              <a:srgbClr val="E4E8EB"/>
            </a:solidFill>
            <a:prstDash val="solid"/>
          </a:ln>
        </p:spPr>
      </p:sp>
      <p:sp>
        <p:nvSpPr>
          <p:cNvPr id="15" name="Text 11"/>
          <p:cNvSpPr txBox="1"/>
          <p:nvPr/>
        </p:nvSpPr>
        <p:spPr>
          <a:xfrm>
            <a:off x="6355080" y="4709160"/>
            <a:ext cx="2423160" cy="777240"/>
          </a:xfrm>
          <a:prstGeom prst="rect">
            <a:avLst/>
          </a:prstGeom>
          <a:noFill/>
          <a:ln/>
        </p:spPr>
        <p:txBody>
          <a:bodyPr wrap="square" lIns="0" tIns="0" rIns="0" bIns="0" rtlCol="0" anchor="ctr"/>
          <a:lstStyle/>
          <a:p>
            <a:pPr indent="0" marL="0">
              <a:lnSpc>
                <a:spcPct val="115000"/>
              </a:lnSpc>
              <a:buNone/>
            </a:pPr>
            <a:r>
              <a:rPr lang="en-US" sz="1100" b="1" dirty="0">
                <a:solidFill>
                  <a:srgbClr val="1B2A38"/>
                </a:solidFill>
                <a:latin typeface="Calibri" pitchFamily="34" charset="0"/>
                <a:ea typeface="Calibri" pitchFamily="34" charset="-122"/>
                <a:cs typeface="Calibri" pitchFamily="34" charset="-120"/>
              </a:rPr>
              <a:t>Field Worker — mobile inspections</a:t>
            </a:r>
            <a:endParaRPr lang="en-US" sz="1100" dirty="0"/>
          </a:p>
        </p:txBody>
      </p:sp>
      <p:sp>
        <p:nvSpPr>
          <p:cNvPr id="16" name="Shape 12"/>
          <p:cNvSpPr/>
          <p:nvPr/>
        </p:nvSpPr>
        <p:spPr>
          <a:xfrm>
            <a:off x="9052560" y="4709160"/>
            <a:ext cx="2697480" cy="777240"/>
          </a:xfrm>
          <a:prstGeom prst="roundRect">
            <a:avLst>
              <a:gd name="adj" fmla="val 9412"/>
            </a:avLst>
          </a:prstGeom>
          <a:solidFill>
            <a:srgbClr val="F6F7F9"/>
          </a:solidFill>
          <a:ln w="12700">
            <a:solidFill>
              <a:srgbClr val="E4E8EB"/>
            </a:solidFill>
            <a:prstDash val="solid"/>
          </a:ln>
        </p:spPr>
      </p:sp>
      <p:sp>
        <p:nvSpPr>
          <p:cNvPr id="17" name="Text 13"/>
          <p:cNvSpPr txBox="1"/>
          <p:nvPr/>
        </p:nvSpPr>
        <p:spPr>
          <a:xfrm>
            <a:off x="9189720" y="4709160"/>
            <a:ext cx="2423160" cy="777240"/>
          </a:xfrm>
          <a:prstGeom prst="rect">
            <a:avLst/>
          </a:prstGeom>
          <a:noFill/>
          <a:ln/>
        </p:spPr>
        <p:txBody>
          <a:bodyPr wrap="square" lIns="0" tIns="0" rIns="0" bIns="0" rtlCol="0" anchor="ctr"/>
          <a:lstStyle/>
          <a:p>
            <a:pPr indent="0" marL="0">
              <a:lnSpc>
                <a:spcPct val="115000"/>
              </a:lnSpc>
              <a:buNone/>
            </a:pPr>
            <a:r>
              <a:rPr lang="en-US" sz="1100" b="1" dirty="0">
                <a:solidFill>
                  <a:srgbClr val="1B2A38"/>
                </a:solidFill>
                <a:latin typeface="Calibri" pitchFamily="34" charset="0"/>
                <a:ea typeface="Calibri" pitchFamily="34" charset="-122"/>
                <a:cs typeface="Calibri" pitchFamily="34" charset="-120"/>
              </a:rPr>
              <a:t>Citizen — complaint &amp; tracking portal</a:t>
            </a:r>
            <a:endParaRPr lang="en-US" sz="1100" dirty="0"/>
          </a:p>
        </p:txBody>
      </p:sp>
      <p:sp>
        <p:nvSpPr>
          <p:cNvPr id="18" name="Text 14"/>
          <p:cNvSpPr txBox="1"/>
          <p:nvPr/>
        </p:nvSpPr>
        <p:spPr>
          <a:xfrm>
            <a:off x="548640" y="5669280"/>
            <a:ext cx="11064240" cy="457200"/>
          </a:xfrm>
          <a:prstGeom prst="rect">
            <a:avLst/>
          </a:prstGeom>
          <a:noFill/>
          <a:ln/>
        </p:spPr>
        <p:txBody>
          <a:bodyPr wrap="square" lIns="0" tIns="0" rIns="0" bIns="0" rtlCol="0" anchor="ctr"/>
          <a:lstStyle/>
          <a:p>
            <a:pPr indent="0" marL="0">
              <a:buNone/>
            </a:pPr>
            <a:r>
              <a:rPr lang="en-US" sz="1100" i="1" dirty="0">
                <a:solidFill>
                  <a:srgbClr val="62727C"/>
                </a:solidFill>
                <a:latin typeface="Calibri" pitchFamily="34" charset="0"/>
                <a:ea typeface="Calibri" pitchFamily="34" charset="-122"/>
                <a:cs typeface="Calibri" pitchFamily="34" charset="-120"/>
              </a:rPr>
              <a:t>Every role is backed by full state/district data isolation and audit trails — plus a live GIS map with weather overlays for every asset.</a:t>
            </a:r>
            <a:endParaRPr lang="en-US" sz="1100" dirty="0"/>
          </a:p>
        </p:txBody>
      </p:sp>
      <p:sp>
        <p:nvSpPr>
          <p:cNvPr id="19" name="Text 15"/>
          <p:cNvSpPr/>
          <p:nvPr/>
        </p:nvSpPr>
        <p:spPr>
          <a:xfrm>
            <a:off x="11521440" y="6510528"/>
            <a:ext cx="548640" cy="274320"/>
          </a:xfrm>
          <a:prstGeom prst="rect">
            <a:avLst/>
          </a:prstGeom>
          <a:noFill/>
          <a:ln/>
        </p:spPr>
        <p:txBody>
          <a:bodyPr wrap="square" rtlCol="0" anchor="ctr"/>
          <a:lstStyle/>
          <a:p>
            <a:pPr algn="r" indent="0" marL="0">
              <a:buNone/>
            </a:pPr>
            <a:r>
              <a:rPr lang="en-US" sz="1000" dirty="0">
                <a:solidFill>
                  <a:srgbClr val="A7B0B8"/>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250" b="1" spc="200" kern="0" dirty="0">
                <a:solidFill>
                  <a:srgbClr val="F5A623"/>
                </a:solidFill>
                <a:latin typeface="Calibri" pitchFamily="34" charset="0"/>
                <a:ea typeface="Calibri" pitchFamily="34" charset="-122"/>
                <a:cs typeface="Calibri" pitchFamily="34" charset="-120"/>
              </a:rPr>
              <a:t>ALIGNMENT</a:t>
            </a:r>
            <a:endParaRPr lang="en-US" sz="1250" dirty="0"/>
          </a:p>
        </p:txBody>
      </p:sp>
      <p:sp>
        <p:nvSpPr>
          <p:cNvPr id="3" name="Text 1"/>
          <p:cNvSpPr txBox="1"/>
          <p:nvPr/>
        </p:nvSpPr>
        <p:spPr>
          <a:xfrm>
            <a:off x="548640" y="713232"/>
            <a:ext cx="9144000" cy="731520"/>
          </a:xfrm>
          <a:prstGeom prst="rect">
            <a:avLst/>
          </a:prstGeom>
          <a:noFill/>
          <a:ln/>
        </p:spPr>
        <p:txBody>
          <a:bodyPr wrap="square" lIns="0" tIns="0" rIns="0" bIns="0" rtlCol="0" anchor="ctr"/>
          <a:lstStyle/>
          <a:p>
            <a:pPr indent="0" marL="0">
              <a:buNone/>
            </a:pPr>
            <a:r>
              <a:rPr lang="en-US" sz="3200" b="1" dirty="0">
                <a:solidFill>
                  <a:srgbClr val="1B2A38"/>
                </a:solidFill>
                <a:latin typeface="Cambria" pitchFamily="34" charset="0"/>
                <a:ea typeface="Cambria" pitchFamily="34" charset="-122"/>
                <a:cs typeface="Cambria" pitchFamily="34" charset="-120"/>
              </a:rPr>
              <a:t>Every requirement in the brief, delivered</a:t>
            </a:r>
            <a:endParaRPr lang="en-US" sz="3200" dirty="0"/>
          </a:p>
        </p:txBody>
      </p:sp>
      <p:sp>
        <p:nvSpPr>
          <p:cNvPr id="4" name="Text 2"/>
          <p:cNvSpPr txBox="1"/>
          <p:nvPr/>
        </p:nvSpPr>
        <p:spPr>
          <a:xfrm>
            <a:off x="548640" y="1691640"/>
            <a:ext cx="5394960" cy="320040"/>
          </a:xfrm>
          <a:prstGeom prst="rect">
            <a:avLst/>
          </a:prstGeom>
          <a:noFill/>
          <a:ln/>
        </p:spPr>
        <p:txBody>
          <a:bodyPr wrap="square" lIns="0" tIns="0" rIns="0" bIns="0" rtlCol="0" anchor="ctr"/>
          <a:lstStyle/>
          <a:p>
            <a:pPr indent="0" marL="0">
              <a:buNone/>
            </a:pPr>
            <a:r>
              <a:rPr lang="en-US" sz="1100" b="1" spc="100" kern="0" dirty="0">
                <a:solidFill>
                  <a:srgbClr val="62727C"/>
                </a:solidFill>
                <a:latin typeface="Calibri" pitchFamily="34" charset="0"/>
                <a:ea typeface="Calibri" pitchFamily="34" charset="-122"/>
                <a:cs typeface="Calibri" pitchFamily="34" charset="-120"/>
              </a:rPr>
              <a:t>PROBLEM STATEMENT U1 ASKS FOR</a:t>
            </a:r>
            <a:endParaRPr lang="en-US" sz="1100" dirty="0"/>
          </a:p>
        </p:txBody>
      </p:sp>
      <p:sp>
        <p:nvSpPr>
          <p:cNvPr id="5" name="Text 3"/>
          <p:cNvSpPr txBox="1"/>
          <p:nvPr/>
        </p:nvSpPr>
        <p:spPr>
          <a:xfrm>
            <a:off x="6263640" y="1691640"/>
            <a:ext cx="5394960" cy="320040"/>
          </a:xfrm>
          <a:prstGeom prst="rect">
            <a:avLst/>
          </a:prstGeom>
          <a:noFill/>
          <a:ln/>
        </p:spPr>
        <p:txBody>
          <a:bodyPr wrap="square" lIns="0" tIns="0" rIns="0" bIns="0" rtlCol="0" anchor="ctr"/>
          <a:lstStyle/>
          <a:p>
            <a:pPr indent="0" marL="0">
              <a:buNone/>
            </a:pPr>
            <a:r>
              <a:rPr lang="en-US" sz="1100" b="1" spc="100" kern="0" dirty="0">
                <a:solidFill>
                  <a:srgbClr val="F5A623"/>
                </a:solidFill>
                <a:latin typeface="Calibri" pitchFamily="34" charset="0"/>
                <a:ea typeface="Calibri" pitchFamily="34" charset="-122"/>
                <a:cs typeface="Calibri" pitchFamily="34" charset="-120"/>
              </a:rPr>
              <a:t>NEXORA AI DELIVERS</a:t>
            </a:r>
            <a:endParaRPr lang="en-US" sz="1100" dirty="0"/>
          </a:p>
        </p:txBody>
      </p:sp>
      <p:sp>
        <p:nvSpPr>
          <p:cNvPr id="6" name="Shape 4"/>
          <p:cNvSpPr/>
          <p:nvPr/>
        </p:nvSpPr>
        <p:spPr>
          <a:xfrm>
            <a:off x="548640" y="2103120"/>
            <a:ext cx="11064240" cy="960120"/>
          </a:xfrm>
          <a:prstGeom prst="rect">
            <a:avLst/>
          </a:prstGeom>
          <a:solidFill>
            <a:srgbClr val="F6F7F9"/>
          </a:solidFill>
          <a:ln/>
        </p:spPr>
      </p:sp>
      <p:sp>
        <p:nvSpPr>
          <p:cNvPr id="7" name="Text 5"/>
          <p:cNvSpPr txBox="1"/>
          <p:nvPr/>
        </p:nvSpPr>
        <p:spPr>
          <a:xfrm>
            <a:off x="777240" y="2103120"/>
            <a:ext cx="5120640" cy="960120"/>
          </a:xfrm>
          <a:prstGeom prst="rect">
            <a:avLst/>
          </a:prstGeom>
          <a:noFill/>
          <a:ln/>
        </p:spPr>
        <p:txBody>
          <a:bodyPr wrap="square" lIns="0" tIns="0" rIns="0" bIns="0" rtlCol="0" anchor="ctr"/>
          <a:lstStyle/>
          <a:p>
            <a:pPr indent="0" marL="0">
              <a:lnSpc>
                <a:spcPct val="120000"/>
              </a:lnSpc>
              <a:buNone/>
            </a:pPr>
            <a:r>
              <a:rPr lang="en-US" sz="1200" dirty="0">
                <a:solidFill>
                  <a:srgbClr val="1B2A38"/>
                </a:solidFill>
                <a:latin typeface="Calibri" pitchFamily="34" charset="0"/>
                <a:ea typeface="Calibri" pitchFamily="34" charset="-122"/>
                <a:cs typeface="Calibri" pitchFamily="34" charset="-120"/>
              </a:rPr>
              <a:t>Combine asset health sensors, weather &amp; historical incidents</a:t>
            </a:r>
            <a:endParaRPr lang="en-US" sz="1200" dirty="0"/>
          </a:p>
        </p:txBody>
      </p:sp>
      <p:sp>
        <p:nvSpPr>
          <p:cNvPr id="8" name="Text 6"/>
          <p:cNvSpPr txBox="1"/>
          <p:nvPr/>
        </p:nvSpPr>
        <p:spPr>
          <a:xfrm>
            <a:off x="5806440" y="2103120"/>
            <a:ext cx="365760" cy="960120"/>
          </a:xfrm>
          <a:prstGeom prst="rect">
            <a:avLst/>
          </a:prstGeom>
          <a:noFill/>
          <a:ln/>
        </p:spPr>
        <p:txBody>
          <a:bodyPr wrap="square" lIns="0" tIns="0" rIns="0" bIns="0" rtlCol="0" anchor="ctr"/>
          <a:lstStyle/>
          <a:p>
            <a:pPr algn="ctr" indent="0" marL="0">
              <a:buNone/>
            </a:pPr>
            <a:r>
              <a:rPr lang="en-US" sz="1600" b="1" dirty="0">
                <a:solidFill>
                  <a:srgbClr val="27AE60"/>
                </a:solidFill>
                <a:latin typeface="Calibri" pitchFamily="34" charset="0"/>
                <a:ea typeface="Calibri" pitchFamily="34" charset="-122"/>
                <a:cs typeface="Calibri" pitchFamily="34" charset="-120"/>
              </a:rPr>
              <a:t>✓</a:t>
            </a:r>
            <a:endParaRPr lang="en-US" sz="1600" dirty="0"/>
          </a:p>
        </p:txBody>
      </p:sp>
      <p:sp>
        <p:nvSpPr>
          <p:cNvPr id="9" name="Text 7"/>
          <p:cNvSpPr txBox="1"/>
          <p:nvPr/>
        </p:nvSpPr>
        <p:spPr>
          <a:xfrm>
            <a:off x="6263640" y="2103120"/>
            <a:ext cx="5349240" cy="960120"/>
          </a:xfrm>
          <a:prstGeom prst="rect">
            <a:avLst/>
          </a:prstGeom>
          <a:noFill/>
          <a:ln/>
        </p:spPr>
        <p:txBody>
          <a:bodyPr wrap="square" lIns="0" tIns="0" rIns="0" bIns="0" rtlCol="0" anchor="ctr"/>
          <a:lstStyle/>
          <a:p>
            <a:pPr indent="0" marL="0">
              <a:lnSpc>
                <a:spcPct val="120000"/>
              </a:lnSpc>
              <a:buNone/>
            </a:pPr>
            <a:r>
              <a:rPr lang="en-US" sz="1200" b="1" dirty="0">
                <a:solidFill>
                  <a:srgbClr val="1B2A38"/>
                </a:solidFill>
                <a:latin typeface="Calibri" pitchFamily="34" charset="0"/>
                <a:ea typeface="Calibri" pitchFamily="34" charset="-122"/>
                <a:cs typeface="Calibri" pitchFamily="34" charset="-120"/>
              </a:rPr>
              <a:t>Unified risk engine fuses sensor, weather, worker &amp; incident data</a:t>
            </a:r>
            <a:endParaRPr lang="en-US" sz="1200" dirty="0"/>
          </a:p>
        </p:txBody>
      </p:sp>
      <p:sp>
        <p:nvSpPr>
          <p:cNvPr id="10" name="Text 8"/>
          <p:cNvSpPr txBox="1"/>
          <p:nvPr/>
        </p:nvSpPr>
        <p:spPr>
          <a:xfrm>
            <a:off x="777240" y="3063240"/>
            <a:ext cx="5120640" cy="960120"/>
          </a:xfrm>
          <a:prstGeom prst="rect">
            <a:avLst/>
          </a:prstGeom>
          <a:noFill/>
          <a:ln/>
        </p:spPr>
        <p:txBody>
          <a:bodyPr wrap="square" lIns="0" tIns="0" rIns="0" bIns="0" rtlCol="0" anchor="ctr"/>
          <a:lstStyle/>
          <a:p>
            <a:pPr indent="0" marL="0">
              <a:lnSpc>
                <a:spcPct val="120000"/>
              </a:lnSpc>
              <a:buNone/>
            </a:pPr>
            <a:r>
              <a:rPr lang="en-US" sz="1200" dirty="0">
                <a:solidFill>
                  <a:srgbClr val="1B2A38"/>
                </a:solidFill>
                <a:latin typeface="Calibri" pitchFamily="34" charset="0"/>
                <a:ea typeface="Calibri" pitchFamily="34" charset="-122"/>
                <a:cs typeface="Calibri" pitchFamily="34" charset="-120"/>
              </a:rPr>
              <a:t>Predict outage-prone areas &amp; at-risk equipment</a:t>
            </a:r>
            <a:endParaRPr lang="en-US" sz="1200" dirty="0"/>
          </a:p>
        </p:txBody>
      </p:sp>
      <p:sp>
        <p:nvSpPr>
          <p:cNvPr id="11" name="Text 9"/>
          <p:cNvSpPr txBox="1"/>
          <p:nvPr/>
        </p:nvSpPr>
        <p:spPr>
          <a:xfrm>
            <a:off x="5806440" y="3063240"/>
            <a:ext cx="365760" cy="960120"/>
          </a:xfrm>
          <a:prstGeom prst="rect">
            <a:avLst/>
          </a:prstGeom>
          <a:noFill/>
          <a:ln/>
        </p:spPr>
        <p:txBody>
          <a:bodyPr wrap="square" lIns="0" tIns="0" rIns="0" bIns="0" rtlCol="0" anchor="ctr"/>
          <a:lstStyle/>
          <a:p>
            <a:pPr algn="ctr" indent="0" marL="0">
              <a:buNone/>
            </a:pPr>
            <a:r>
              <a:rPr lang="en-US" sz="1600" b="1" dirty="0">
                <a:solidFill>
                  <a:srgbClr val="27AE60"/>
                </a:solidFill>
                <a:latin typeface="Calibri" pitchFamily="34" charset="0"/>
                <a:ea typeface="Calibri" pitchFamily="34" charset="-122"/>
                <a:cs typeface="Calibri" pitchFamily="34" charset="-120"/>
              </a:rPr>
              <a:t>✓</a:t>
            </a:r>
            <a:endParaRPr lang="en-US" sz="1600" dirty="0"/>
          </a:p>
        </p:txBody>
      </p:sp>
      <p:sp>
        <p:nvSpPr>
          <p:cNvPr id="12" name="Text 10"/>
          <p:cNvSpPr txBox="1"/>
          <p:nvPr/>
        </p:nvSpPr>
        <p:spPr>
          <a:xfrm>
            <a:off x="6263640" y="3063240"/>
            <a:ext cx="5349240" cy="960120"/>
          </a:xfrm>
          <a:prstGeom prst="rect">
            <a:avLst/>
          </a:prstGeom>
          <a:noFill/>
          <a:ln/>
        </p:spPr>
        <p:txBody>
          <a:bodyPr wrap="square" lIns="0" tIns="0" rIns="0" bIns="0" rtlCol="0" anchor="ctr"/>
          <a:lstStyle/>
          <a:p>
            <a:pPr indent="0" marL="0">
              <a:lnSpc>
                <a:spcPct val="120000"/>
              </a:lnSpc>
              <a:buNone/>
            </a:pPr>
            <a:r>
              <a:rPr lang="en-US" sz="1200" b="1" dirty="0">
                <a:solidFill>
                  <a:srgbClr val="1B2A38"/>
                </a:solidFill>
                <a:latin typeface="Calibri" pitchFamily="34" charset="0"/>
                <a:ea typeface="Calibri" pitchFamily="34" charset="-122"/>
                <a:cs typeface="Calibri" pitchFamily="34" charset="-120"/>
              </a:rPr>
              <a:t>Versioned AI risk scores with confidence &amp; contributing factors</a:t>
            </a:r>
            <a:endParaRPr lang="en-US" sz="1200" dirty="0"/>
          </a:p>
        </p:txBody>
      </p:sp>
      <p:sp>
        <p:nvSpPr>
          <p:cNvPr id="13" name="Shape 11"/>
          <p:cNvSpPr/>
          <p:nvPr/>
        </p:nvSpPr>
        <p:spPr>
          <a:xfrm>
            <a:off x="548640" y="4023360"/>
            <a:ext cx="11064240" cy="960120"/>
          </a:xfrm>
          <a:prstGeom prst="rect">
            <a:avLst/>
          </a:prstGeom>
          <a:solidFill>
            <a:srgbClr val="F6F7F9"/>
          </a:solidFill>
          <a:ln/>
        </p:spPr>
      </p:sp>
      <p:sp>
        <p:nvSpPr>
          <p:cNvPr id="14" name="Text 12"/>
          <p:cNvSpPr txBox="1"/>
          <p:nvPr/>
        </p:nvSpPr>
        <p:spPr>
          <a:xfrm>
            <a:off x="777240" y="4023360"/>
            <a:ext cx="5120640" cy="960120"/>
          </a:xfrm>
          <a:prstGeom prst="rect">
            <a:avLst/>
          </a:prstGeom>
          <a:noFill/>
          <a:ln/>
        </p:spPr>
        <p:txBody>
          <a:bodyPr wrap="square" lIns="0" tIns="0" rIns="0" bIns="0" rtlCol="0" anchor="ctr"/>
          <a:lstStyle/>
          <a:p>
            <a:pPr indent="0" marL="0">
              <a:lnSpc>
                <a:spcPct val="120000"/>
              </a:lnSpc>
              <a:buNone/>
            </a:pPr>
            <a:r>
              <a:rPr lang="en-US" sz="1200" dirty="0">
                <a:solidFill>
                  <a:srgbClr val="1B2A38"/>
                </a:solidFill>
                <a:latin typeface="Calibri" pitchFamily="34" charset="0"/>
                <a:ea typeface="Calibri" pitchFamily="34" charset="-122"/>
                <a:cs typeface="Calibri" pitchFamily="34" charset="-120"/>
              </a:rPr>
              <a:t>Rank assets by grid-impact severity</a:t>
            </a:r>
            <a:endParaRPr lang="en-US" sz="1200" dirty="0"/>
          </a:p>
        </p:txBody>
      </p:sp>
      <p:sp>
        <p:nvSpPr>
          <p:cNvPr id="15" name="Text 13"/>
          <p:cNvSpPr txBox="1"/>
          <p:nvPr/>
        </p:nvSpPr>
        <p:spPr>
          <a:xfrm>
            <a:off x="5806440" y="4023360"/>
            <a:ext cx="365760" cy="960120"/>
          </a:xfrm>
          <a:prstGeom prst="rect">
            <a:avLst/>
          </a:prstGeom>
          <a:noFill/>
          <a:ln/>
        </p:spPr>
        <p:txBody>
          <a:bodyPr wrap="square" lIns="0" tIns="0" rIns="0" bIns="0" rtlCol="0" anchor="ctr"/>
          <a:lstStyle/>
          <a:p>
            <a:pPr algn="ctr" indent="0" marL="0">
              <a:buNone/>
            </a:pPr>
            <a:r>
              <a:rPr lang="en-US" sz="1600" b="1" dirty="0">
                <a:solidFill>
                  <a:srgbClr val="27AE60"/>
                </a:solidFill>
                <a:latin typeface="Calibri" pitchFamily="34" charset="0"/>
                <a:ea typeface="Calibri" pitchFamily="34" charset="-122"/>
                <a:cs typeface="Calibri" pitchFamily="34" charset="-120"/>
              </a:rPr>
              <a:t>✓</a:t>
            </a:r>
            <a:endParaRPr lang="en-US" sz="1600" dirty="0"/>
          </a:p>
        </p:txBody>
      </p:sp>
      <p:sp>
        <p:nvSpPr>
          <p:cNvPr id="16" name="Text 14"/>
          <p:cNvSpPr txBox="1"/>
          <p:nvPr/>
        </p:nvSpPr>
        <p:spPr>
          <a:xfrm>
            <a:off x="6263640" y="4023360"/>
            <a:ext cx="5349240" cy="960120"/>
          </a:xfrm>
          <a:prstGeom prst="rect">
            <a:avLst/>
          </a:prstGeom>
          <a:noFill/>
          <a:ln/>
        </p:spPr>
        <p:txBody>
          <a:bodyPr wrap="square" lIns="0" tIns="0" rIns="0" bIns="0" rtlCol="0" anchor="ctr"/>
          <a:lstStyle/>
          <a:p>
            <a:pPr indent="0" marL="0">
              <a:lnSpc>
                <a:spcPct val="120000"/>
              </a:lnSpc>
              <a:buNone/>
            </a:pPr>
            <a:r>
              <a:rPr lang="en-US" sz="1200" b="1" dirty="0">
                <a:solidFill>
                  <a:srgbClr val="1B2A38"/>
                </a:solidFill>
                <a:latin typeface="Calibri" pitchFamily="34" charset="0"/>
                <a:ea typeface="Calibri" pitchFamily="34" charset="-122"/>
                <a:cs typeface="Calibri" pitchFamily="34" charset="-120"/>
              </a:rPr>
              <a:t>Weighted priority formula: risk, grid impact, failure prob., urgency</a:t>
            </a:r>
            <a:endParaRPr lang="en-US" sz="1200" dirty="0"/>
          </a:p>
        </p:txBody>
      </p:sp>
      <p:sp>
        <p:nvSpPr>
          <p:cNvPr id="17" name="Text 15"/>
          <p:cNvSpPr txBox="1"/>
          <p:nvPr/>
        </p:nvSpPr>
        <p:spPr>
          <a:xfrm>
            <a:off x="777240" y="4983480"/>
            <a:ext cx="5120640" cy="960120"/>
          </a:xfrm>
          <a:prstGeom prst="rect">
            <a:avLst/>
          </a:prstGeom>
          <a:noFill/>
          <a:ln/>
        </p:spPr>
        <p:txBody>
          <a:bodyPr wrap="square" lIns="0" tIns="0" rIns="0" bIns="0" rtlCol="0" anchor="ctr"/>
          <a:lstStyle/>
          <a:p>
            <a:pPr indent="0" marL="0">
              <a:lnSpc>
                <a:spcPct val="120000"/>
              </a:lnSpc>
              <a:buNone/>
            </a:pPr>
            <a:r>
              <a:rPr lang="en-US" sz="1200" dirty="0">
                <a:solidFill>
                  <a:srgbClr val="1B2A38"/>
                </a:solidFill>
                <a:latin typeface="Calibri" pitchFamily="34" charset="0"/>
                <a:ea typeface="Calibri" pitchFamily="34" charset="-122"/>
                <a:cs typeface="Calibri" pitchFamily="34" charset="-120"/>
              </a:rPr>
              <a:t>Generate a prioritised maintenance &amp; crew plan</a:t>
            </a:r>
            <a:endParaRPr lang="en-US" sz="1200" dirty="0"/>
          </a:p>
        </p:txBody>
      </p:sp>
      <p:sp>
        <p:nvSpPr>
          <p:cNvPr id="18" name="Text 16"/>
          <p:cNvSpPr txBox="1"/>
          <p:nvPr/>
        </p:nvSpPr>
        <p:spPr>
          <a:xfrm>
            <a:off x="5806440" y="4983480"/>
            <a:ext cx="365760" cy="960120"/>
          </a:xfrm>
          <a:prstGeom prst="rect">
            <a:avLst/>
          </a:prstGeom>
          <a:noFill/>
          <a:ln/>
        </p:spPr>
        <p:txBody>
          <a:bodyPr wrap="square" lIns="0" tIns="0" rIns="0" bIns="0" rtlCol="0" anchor="ctr"/>
          <a:lstStyle/>
          <a:p>
            <a:pPr algn="ctr" indent="0" marL="0">
              <a:buNone/>
            </a:pPr>
            <a:r>
              <a:rPr lang="en-US" sz="1600" b="1" dirty="0">
                <a:solidFill>
                  <a:srgbClr val="27AE60"/>
                </a:solidFill>
                <a:latin typeface="Calibri" pitchFamily="34" charset="0"/>
                <a:ea typeface="Calibri" pitchFamily="34" charset="-122"/>
                <a:cs typeface="Calibri" pitchFamily="34" charset="-120"/>
              </a:rPr>
              <a:t>✓</a:t>
            </a:r>
            <a:endParaRPr lang="en-US" sz="1600" dirty="0"/>
          </a:p>
        </p:txBody>
      </p:sp>
      <p:sp>
        <p:nvSpPr>
          <p:cNvPr id="19" name="Text 17"/>
          <p:cNvSpPr txBox="1"/>
          <p:nvPr/>
        </p:nvSpPr>
        <p:spPr>
          <a:xfrm>
            <a:off x="6263640" y="4983480"/>
            <a:ext cx="5349240" cy="960120"/>
          </a:xfrm>
          <a:prstGeom prst="rect">
            <a:avLst/>
          </a:prstGeom>
          <a:noFill/>
          <a:ln/>
        </p:spPr>
        <p:txBody>
          <a:bodyPr wrap="square" lIns="0" tIns="0" rIns="0" bIns="0" rtlCol="0" anchor="ctr"/>
          <a:lstStyle/>
          <a:p>
            <a:pPr indent="0" marL="0">
              <a:lnSpc>
                <a:spcPct val="120000"/>
              </a:lnSpc>
              <a:buNone/>
            </a:pPr>
            <a:r>
              <a:rPr lang="en-US" sz="1200" b="1" dirty="0">
                <a:solidFill>
                  <a:srgbClr val="1B2A38"/>
                </a:solidFill>
                <a:latin typeface="Calibri" pitchFamily="34" charset="0"/>
                <a:ea typeface="Calibri" pitchFamily="34" charset="-122"/>
                <a:cs typeface="Calibri" pitchFamily="34" charset="-120"/>
              </a:rPr>
              <a:t>Auto-built maintenance queue with recommended actions, gated by admin approval</a:t>
            </a:r>
            <a:endParaRPr lang="en-US" sz="1200" dirty="0"/>
          </a:p>
        </p:txBody>
      </p:sp>
      <p:sp>
        <p:nvSpPr>
          <p:cNvPr id="20" name="Text 18"/>
          <p:cNvSpPr/>
          <p:nvPr/>
        </p:nvSpPr>
        <p:spPr>
          <a:xfrm>
            <a:off x="11521440" y="6510528"/>
            <a:ext cx="548640" cy="274320"/>
          </a:xfrm>
          <a:prstGeom prst="rect">
            <a:avLst/>
          </a:prstGeom>
          <a:noFill/>
          <a:ln/>
        </p:spPr>
        <p:txBody>
          <a:bodyPr wrap="square" rtlCol="0" anchor="ctr"/>
          <a:lstStyle/>
          <a:p>
            <a:pPr algn="r" indent="0" marL="0">
              <a:buNone/>
            </a:pPr>
            <a:r>
              <a:rPr lang="en-US" sz="1000" dirty="0">
                <a:solidFill>
                  <a:srgbClr val="A7B0B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250" b="1" spc="200" kern="0" dirty="0">
                <a:solidFill>
                  <a:srgbClr val="F5A623"/>
                </a:solidFill>
                <a:latin typeface="Calibri" pitchFamily="34" charset="0"/>
                <a:ea typeface="Calibri" pitchFamily="34" charset="-122"/>
                <a:cs typeface="Calibri" pitchFamily="34" charset="-120"/>
              </a:rPr>
              <a:t>WHAT'S NEXT</a:t>
            </a:r>
            <a:endParaRPr lang="en-US" sz="1250" dirty="0"/>
          </a:p>
        </p:txBody>
      </p:sp>
      <p:sp>
        <p:nvSpPr>
          <p:cNvPr id="3" name="Text 1"/>
          <p:cNvSpPr txBox="1"/>
          <p:nvPr/>
        </p:nvSpPr>
        <p:spPr>
          <a:xfrm>
            <a:off x="548640" y="713232"/>
            <a:ext cx="9144000" cy="731520"/>
          </a:xfrm>
          <a:prstGeom prst="rect">
            <a:avLst/>
          </a:prstGeom>
          <a:noFill/>
          <a:ln/>
        </p:spPr>
        <p:txBody>
          <a:bodyPr wrap="square" lIns="0" tIns="0" rIns="0" bIns="0" rtlCol="0" anchor="ctr"/>
          <a:lstStyle/>
          <a:p>
            <a:pPr indent="0" marL="0">
              <a:buNone/>
            </a:pPr>
            <a:r>
              <a:rPr lang="en-US" sz="3200" b="1" dirty="0">
                <a:solidFill>
                  <a:srgbClr val="1B2A38"/>
                </a:solidFill>
                <a:latin typeface="Cambria" pitchFamily="34" charset="0"/>
                <a:ea typeface="Cambria" pitchFamily="34" charset="-122"/>
                <a:cs typeface="Cambria" pitchFamily="34" charset="-120"/>
              </a:rPr>
              <a:t>From prototype to grid-wide rollout</a:t>
            </a:r>
            <a:endParaRPr lang="en-US" sz="3200" dirty="0"/>
          </a:p>
        </p:txBody>
      </p:sp>
      <p:sp>
        <p:nvSpPr>
          <p:cNvPr id="4" name="Shape 2"/>
          <p:cNvSpPr/>
          <p:nvPr/>
        </p:nvSpPr>
        <p:spPr>
          <a:xfrm>
            <a:off x="548640" y="1783080"/>
            <a:ext cx="2606040" cy="3246120"/>
          </a:xfrm>
          <a:prstGeom prst="roundRect">
            <a:avLst>
              <a:gd name="adj" fmla="val 3158"/>
            </a:avLst>
          </a:prstGeom>
          <a:solidFill>
            <a:srgbClr val="18242F"/>
          </a:solidFill>
          <a:ln w="12700">
            <a:solidFill>
              <a:srgbClr val="18242F"/>
            </a:solidFill>
            <a:prstDash val="solid"/>
          </a:ln>
        </p:spPr>
      </p:sp>
      <p:sp>
        <p:nvSpPr>
          <p:cNvPr id="5" name="Text 3"/>
          <p:cNvSpPr txBox="1"/>
          <p:nvPr/>
        </p:nvSpPr>
        <p:spPr>
          <a:xfrm>
            <a:off x="777240" y="2039112"/>
            <a:ext cx="2148840" cy="274320"/>
          </a:xfrm>
          <a:prstGeom prst="rect">
            <a:avLst/>
          </a:prstGeom>
          <a:noFill/>
          <a:ln/>
        </p:spPr>
        <p:txBody>
          <a:bodyPr wrap="square" lIns="0" tIns="0" rIns="0" bIns="0" rtlCol="0" anchor="ctr"/>
          <a:lstStyle/>
          <a:p>
            <a:pPr indent="0" marL="0">
              <a:buNone/>
            </a:pPr>
            <a:r>
              <a:rPr lang="en-US" sz="1100" b="1" spc="150" kern="0" dirty="0">
                <a:solidFill>
                  <a:srgbClr val="F5A623"/>
                </a:solidFill>
                <a:latin typeface="Calibri" pitchFamily="34" charset="0"/>
                <a:ea typeface="Calibri" pitchFamily="34" charset="-122"/>
                <a:cs typeface="Calibri" pitchFamily="34" charset="-120"/>
              </a:rPr>
              <a:t>NOW</a:t>
            </a:r>
            <a:endParaRPr lang="en-US" sz="1100" dirty="0"/>
          </a:p>
        </p:txBody>
      </p:sp>
      <p:sp>
        <p:nvSpPr>
          <p:cNvPr id="6" name="Text 4"/>
          <p:cNvSpPr txBox="1"/>
          <p:nvPr/>
        </p:nvSpPr>
        <p:spPr>
          <a:xfrm>
            <a:off x="777240" y="2404872"/>
            <a:ext cx="2148840" cy="685800"/>
          </a:xfrm>
          <a:prstGeom prst="rect">
            <a:avLst/>
          </a:prstGeom>
          <a:noFill/>
          <a:ln/>
        </p:spPr>
        <p:txBody>
          <a:bodyPr wrap="square" lIns="0" tIns="0" rIns="0" bIns="0" rtlCol="0" anchor="ctr"/>
          <a:lstStyle/>
          <a:p>
            <a:pPr indent="0" marL="0">
              <a:lnSpc>
                <a:spcPct val="110000"/>
              </a:lnSpc>
              <a:buNone/>
            </a:pPr>
            <a:r>
              <a:rPr lang="en-US" sz="1600" b="1" dirty="0">
                <a:solidFill>
                  <a:srgbClr val="FFFFFF"/>
                </a:solidFill>
                <a:latin typeface="Cambria" pitchFamily="34" charset="0"/>
                <a:ea typeface="Cambria" pitchFamily="34" charset="-122"/>
                <a:cs typeface="Cambria" pitchFamily="34" charset="-120"/>
              </a:rPr>
              <a:t>Working prototype</a:t>
            </a:r>
            <a:endParaRPr lang="en-US" sz="1600" dirty="0"/>
          </a:p>
        </p:txBody>
      </p:sp>
      <p:sp>
        <p:nvSpPr>
          <p:cNvPr id="7" name="Text 5"/>
          <p:cNvSpPr txBox="1"/>
          <p:nvPr/>
        </p:nvSpPr>
        <p:spPr>
          <a:xfrm>
            <a:off x="777240" y="3200400"/>
            <a:ext cx="2148840" cy="1645920"/>
          </a:xfrm>
          <a:prstGeom prst="rect">
            <a:avLst/>
          </a:prstGeom>
          <a:noFill/>
          <a:ln/>
        </p:spPr>
        <p:txBody>
          <a:bodyPr wrap="square" lIns="0" tIns="0" rIns="0" bIns="0" rtlCol="0" anchor="ctr"/>
          <a:lstStyle/>
          <a:p>
            <a:pPr indent="0" marL="0">
              <a:lnSpc>
                <a:spcPct val="130000"/>
              </a:lnSpc>
              <a:buNone/>
            </a:pPr>
            <a:r>
              <a:rPr lang="en-US" sz="1100" dirty="0">
                <a:solidFill>
                  <a:srgbClr val="CFE0EA"/>
                </a:solidFill>
                <a:latin typeface="Calibri" pitchFamily="34" charset="0"/>
                <a:ea typeface="Calibri" pitchFamily="34" charset="-122"/>
                <a:cs typeface="Calibri" pitchFamily="34" charset="-120"/>
              </a:rPr>
              <a:t>Multi-role platform, AI risk engine, GIS map, maintenance queue &amp; governance workflow</a:t>
            </a:r>
            <a:endParaRPr lang="en-US" sz="1100" dirty="0"/>
          </a:p>
        </p:txBody>
      </p:sp>
      <p:sp>
        <p:nvSpPr>
          <p:cNvPr id="8" name="Shape 6"/>
          <p:cNvSpPr/>
          <p:nvPr/>
        </p:nvSpPr>
        <p:spPr>
          <a:xfrm>
            <a:off x="3383280" y="1783080"/>
            <a:ext cx="2606040" cy="3246120"/>
          </a:xfrm>
          <a:prstGeom prst="roundRect">
            <a:avLst>
              <a:gd name="adj" fmla="val 3158"/>
            </a:avLst>
          </a:prstGeom>
          <a:solidFill>
            <a:srgbClr val="F6F7F9"/>
          </a:solidFill>
          <a:ln w="12700">
            <a:solidFill>
              <a:srgbClr val="E4E8EB"/>
            </a:solidFill>
            <a:prstDash val="solid"/>
          </a:ln>
        </p:spPr>
      </p:sp>
      <p:sp>
        <p:nvSpPr>
          <p:cNvPr id="9" name="Text 7"/>
          <p:cNvSpPr txBox="1"/>
          <p:nvPr/>
        </p:nvSpPr>
        <p:spPr>
          <a:xfrm>
            <a:off x="3611880" y="2039112"/>
            <a:ext cx="2148840" cy="274320"/>
          </a:xfrm>
          <a:prstGeom prst="rect">
            <a:avLst/>
          </a:prstGeom>
          <a:noFill/>
          <a:ln/>
        </p:spPr>
        <p:txBody>
          <a:bodyPr wrap="square" lIns="0" tIns="0" rIns="0" bIns="0" rtlCol="0" anchor="ctr"/>
          <a:lstStyle/>
          <a:p>
            <a:pPr indent="0" marL="0">
              <a:buNone/>
            </a:pPr>
            <a:r>
              <a:rPr lang="en-US" sz="1100" b="1" spc="150" kern="0" dirty="0">
                <a:solidFill>
                  <a:srgbClr val="1C7293"/>
                </a:solidFill>
                <a:latin typeface="Calibri" pitchFamily="34" charset="0"/>
                <a:ea typeface="Calibri" pitchFamily="34" charset="-122"/>
                <a:cs typeface="Calibri" pitchFamily="34" charset="-120"/>
              </a:rPr>
              <a:t>NEXT</a:t>
            </a:r>
            <a:endParaRPr lang="en-US" sz="1100" dirty="0"/>
          </a:p>
        </p:txBody>
      </p:sp>
      <p:sp>
        <p:nvSpPr>
          <p:cNvPr id="10" name="Text 8"/>
          <p:cNvSpPr txBox="1"/>
          <p:nvPr/>
        </p:nvSpPr>
        <p:spPr>
          <a:xfrm>
            <a:off x="3611880" y="2404872"/>
            <a:ext cx="2148840" cy="685800"/>
          </a:xfrm>
          <a:prstGeom prst="rect">
            <a:avLst/>
          </a:prstGeom>
          <a:noFill/>
          <a:ln/>
        </p:spPr>
        <p:txBody>
          <a:bodyPr wrap="square" lIns="0" tIns="0" rIns="0" bIns="0" rtlCol="0" anchor="ctr"/>
          <a:lstStyle/>
          <a:p>
            <a:pPr indent="0" marL="0">
              <a:lnSpc>
                <a:spcPct val="110000"/>
              </a:lnSpc>
              <a:buNone/>
            </a:pPr>
            <a:r>
              <a:rPr lang="en-US" sz="1600" b="1" dirty="0">
                <a:solidFill>
                  <a:srgbClr val="1B2A38"/>
                </a:solidFill>
                <a:latin typeface="Cambria" pitchFamily="34" charset="0"/>
                <a:ea typeface="Cambria" pitchFamily="34" charset="-122"/>
                <a:cs typeface="Cambria" pitchFamily="34" charset="-120"/>
              </a:rPr>
              <a:t>Live sensor &amp; SCADA feed</a:t>
            </a:r>
            <a:endParaRPr lang="en-US" sz="1600" dirty="0"/>
          </a:p>
        </p:txBody>
      </p:sp>
      <p:sp>
        <p:nvSpPr>
          <p:cNvPr id="11" name="Text 9"/>
          <p:cNvSpPr txBox="1"/>
          <p:nvPr/>
        </p:nvSpPr>
        <p:spPr>
          <a:xfrm>
            <a:off x="3611880" y="3200400"/>
            <a:ext cx="2148840" cy="1645920"/>
          </a:xfrm>
          <a:prstGeom prst="rect">
            <a:avLst/>
          </a:prstGeom>
          <a:noFill/>
          <a:ln/>
        </p:spPr>
        <p:txBody>
          <a:bodyPr wrap="square" lIns="0" tIns="0" rIns="0" bIns="0" rtlCol="0" anchor="ctr"/>
          <a:lstStyle/>
          <a:p>
            <a:pPr indent="0" marL="0">
              <a:lnSpc>
                <a:spcPct val="130000"/>
              </a:lnSpc>
              <a:buNone/>
            </a:pPr>
            <a:r>
              <a:rPr lang="en-US" sz="1100" dirty="0">
                <a:solidFill>
                  <a:srgbClr val="62727C"/>
                </a:solidFill>
                <a:latin typeface="Calibri" pitchFamily="34" charset="0"/>
                <a:ea typeface="Calibri" pitchFamily="34" charset="-122"/>
                <a:cs typeface="Calibri" pitchFamily="34" charset="-120"/>
              </a:rPr>
              <a:t>Replace sample data with real HUMS / IoT telemetry and utility SCADA integration</a:t>
            </a:r>
            <a:endParaRPr lang="en-US" sz="1100" dirty="0"/>
          </a:p>
        </p:txBody>
      </p:sp>
      <p:sp>
        <p:nvSpPr>
          <p:cNvPr id="12" name="Shape 10"/>
          <p:cNvSpPr/>
          <p:nvPr/>
        </p:nvSpPr>
        <p:spPr>
          <a:xfrm>
            <a:off x="6217920" y="1783080"/>
            <a:ext cx="2606040" cy="3246120"/>
          </a:xfrm>
          <a:prstGeom prst="roundRect">
            <a:avLst>
              <a:gd name="adj" fmla="val 3158"/>
            </a:avLst>
          </a:prstGeom>
          <a:solidFill>
            <a:srgbClr val="F6F7F9"/>
          </a:solidFill>
          <a:ln w="12700">
            <a:solidFill>
              <a:srgbClr val="E4E8EB"/>
            </a:solidFill>
            <a:prstDash val="solid"/>
          </a:ln>
        </p:spPr>
      </p:sp>
      <p:sp>
        <p:nvSpPr>
          <p:cNvPr id="13" name="Text 11"/>
          <p:cNvSpPr txBox="1"/>
          <p:nvPr/>
        </p:nvSpPr>
        <p:spPr>
          <a:xfrm>
            <a:off x="6446520" y="2039112"/>
            <a:ext cx="2148840" cy="274320"/>
          </a:xfrm>
          <a:prstGeom prst="rect">
            <a:avLst/>
          </a:prstGeom>
          <a:noFill/>
          <a:ln/>
        </p:spPr>
        <p:txBody>
          <a:bodyPr wrap="square" lIns="0" tIns="0" rIns="0" bIns="0" rtlCol="0" anchor="ctr"/>
          <a:lstStyle/>
          <a:p>
            <a:pPr indent="0" marL="0">
              <a:buNone/>
            </a:pPr>
            <a:r>
              <a:rPr lang="en-US" sz="1100" b="1" spc="150" kern="0" dirty="0">
                <a:solidFill>
                  <a:srgbClr val="1C7293"/>
                </a:solidFill>
                <a:latin typeface="Calibri" pitchFamily="34" charset="0"/>
                <a:ea typeface="Calibri" pitchFamily="34" charset="-122"/>
                <a:cs typeface="Calibri" pitchFamily="34" charset="-120"/>
              </a:rPr>
              <a:t>THEN</a:t>
            </a:r>
            <a:endParaRPr lang="en-US" sz="1100" dirty="0"/>
          </a:p>
        </p:txBody>
      </p:sp>
      <p:sp>
        <p:nvSpPr>
          <p:cNvPr id="14" name="Text 12"/>
          <p:cNvSpPr txBox="1"/>
          <p:nvPr/>
        </p:nvSpPr>
        <p:spPr>
          <a:xfrm>
            <a:off x="6446520" y="2404872"/>
            <a:ext cx="2148840" cy="685800"/>
          </a:xfrm>
          <a:prstGeom prst="rect">
            <a:avLst/>
          </a:prstGeom>
          <a:noFill/>
          <a:ln/>
        </p:spPr>
        <p:txBody>
          <a:bodyPr wrap="square" lIns="0" tIns="0" rIns="0" bIns="0" rtlCol="0" anchor="ctr"/>
          <a:lstStyle/>
          <a:p>
            <a:pPr indent="0" marL="0">
              <a:lnSpc>
                <a:spcPct val="110000"/>
              </a:lnSpc>
              <a:buNone/>
            </a:pPr>
            <a:r>
              <a:rPr lang="en-US" sz="1600" b="1" dirty="0">
                <a:solidFill>
                  <a:srgbClr val="1B2A38"/>
                </a:solidFill>
                <a:latin typeface="Cambria" pitchFamily="34" charset="0"/>
                <a:ea typeface="Cambria" pitchFamily="34" charset="-122"/>
                <a:cs typeface="Cambria" pitchFamily="34" charset="-120"/>
              </a:rPr>
              <a:t>Crew optimisation</a:t>
            </a:r>
            <a:endParaRPr lang="en-US" sz="1600" dirty="0"/>
          </a:p>
        </p:txBody>
      </p:sp>
      <p:sp>
        <p:nvSpPr>
          <p:cNvPr id="15" name="Text 13"/>
          <p:cNvSpPr txBox="1"/>
          <p:nvPr/>
        </p:nvSpPr>
        <p:spPr>
          <a:xfrm>
            <a:off x="6446520" y="3200400"/>
            <a:ext cx="2148840" cy="1645920"/>
          </a:xfrm>
          <a:prstGeom prst="rect">
            <a:avLst/>
          </a:prstGeom>
          <a:noFill/>
          <a:ln/>
        </p:spPr>
        <p:txBody>
          <a:bodyPr wrap="square" lIns="0" tIns="0" rIns="0" bIns="0" rtlCol="0" anchor="ctr"/>
          <a:lstStyle/>
          <a:p>
            <a:pPr indent="0" marL="0">
              <a:lnSpc>
                <a:spcPct val="130000"/>
              </a:lnSpc>
              <a:buNone/>
            </a:pPr>
            <a:r>
              <a:rPr lang="en-US" sz="1100" dirty="0">
                <a:solidFill>
                  <a:srgbClr val="62727C"/>
                </a:solidFill>
                <a:latin typeface="Calibri" pitchFamily="34" charset="0"/>
                <a:ea typeface="Calibri" pitchFamily="34" charset="-122"/>
                <a:cs typeface="Calibri" pitchFamily="34" charset="-120"/>
              </a:rPr>
              <a:t>Auto-suggested crew pre-positioning &amp; routing ahead of forecast weather events</a:t>
            </a:r>
            <a:endParaRPr lang="en-US" sz="1100" dirty="0"/>
          </a:p>
        </p:txBody>
      </p:sp>
      <p:sp>
        <p:nvSpPr>
          <p:cNvPr id="16" name="Shape 14"/>
          <p:cNvSpPr/>
          <p:nvPr/>
        </p:nvSpPr>
        <p:spPr>
          <a:xfrm>
            <a:off x="9052560" y="1783080"/>
            <a:ext cx="2606040" cy="3246120"/>
          </a:xfrm>
          <a:prstGeom prst="roundRect">
            <a:avLst>
              <a:gd name="adj" fmla="val 3158"/>
            </a:avLst>
          </a:prstGeom>
          <a:solidFill>
            <a:srgbClr val="F6F7F9"/>
          </a:solidFill>
          <a:ln w="12700">
            <a:solidFill>
              <a:srgbClr val="E4E8EB"/>
            </a:solidFill>
            <a:prstDash val="solid"/>
          </a:ln>
        </p:spPr>
      </p:sp>
      <p:sp>
        <p:nvSpPr>
          <p:cNvPr id="17" name="Text 15"/>
          <p:cNvSpPr txBox="1"/>
          <p:nvPr/>
        </p:nvSpPr>
        <p:spPr>
          <a:xfrm>
            <a:off x="9281160" y="2039112"/>
            <a:ext cx="2148840" cy="274320"/>
          </a:xfrm>
          <a:prstGeom prst="rect">
            <a:avLst/>
          </a:prstGeom>
          <a:noFill/>
          <a:ln/>
        </p:spPr>
        <p:txBody>
          <a:bodyPr wrap="square" lIns="0" tIns="0" rIns="0" bIns="0" rtlCol="0" anchor="ctr"/>
          <a:lstStyle/>
          <a:p>
            <a:pPr indent="0" marL="0">
              <a:buNone/>
            </a:pPr>
            <a:r>
              <a:rPr lang="en-US" sz="1100" b="1" spc="150" kern="0" dirty="0">
                <a:solidFill>
                  <a:srgbClr val="1C7293"/>
                </a:solidFill>
                <a:latin typeface="Calibri" pitchFamily="34" charset="0"/>
                <a:ea typeface="Calibri" pitchFamily="34" charset="-122"/>
                <a:cs typeface="Calibri" pitchFamily="34" charset="-120"/>
              </a:rPr>
              <a:t>LATER</a:t>
            </a:r>
            <a:endParaRPr lang="en-US" sz="1100" dirty="0"/>
          </a:p>
        </p:txBody>
      </p:sp>
      <p:sp>
        <p:nvSpPr>
          <p:cNvPr id="18" name="Text 16"/>
          <p:cNvSpPr txBox="1"/>
          <p:nvPr/>
        </p:nvSpPr>
        <p:spPr>
          <a:xfrm>
            <a:off x="9281160" y="2404872"/>
            <a:ext cx="2148840" cy="685800"/>
          </a:xfrm>
          <a:prstGeom prst="rect">
            <a:avLst/>
          </a:prstGeom>
          <a:noFill/>
          <a:ln/>
        </p:spPr>
        <p:txBody>
          <a:bodyPr wrap="square" lIns="0" tIns="0" rIns="0" bIns="0" rtlCol="0" anchor="ctr"/>
          <a:lstStyle/>
          <a:p>
            <a:pPr indent="0" marL="0">
              <a:lnSpc>
                <a:spcPct val="110000"/>
              </a:lnSpc>
              <a:buNone/>
            </a:pPr>
            <a:r>
              <a:rPr lang="en-US" sz="1600" b="1" dirty="0">
                <a:solidFill>
                  <a:srgbClr val="1B2A38"/>
                </a:solidFill>
                <a:latin typeface="Cambria" pitchFamily="34" charset="0"/>
                <a:ea typeface="Cambria" pitchFamily="34" charset="-122"/>
                <a:cs typeface="Cambria" pitchFamily="34" charset="-120"/>
              </a:rPr>
              <a:t>National scale-out</a:t>
            </a:r>
            <a:endParaRPr lang="en-US" sz="1600" dirty="0"/>
          </a:p>
        </p:txBody>
      </p:sp>
      <p:sp>
        <p:nvSpPr>
          <p:cNvPr id="19" name="Text 17"/>
          <p:cNvSpPr txBox="1"/>
          <p:nvPr/>
        </p:nvSpPr>
        <p:spPr>
          <a:xfrm>
            <a:off x="9281160" y="3200400"/>
            <a:ext cx="2148840" cy="1645920"/>
          </a:xfrm>
          <a:prstGeom prst="rect">
            <a:avLst/>
          </a:prstGeom>
          <a:noFill/>
          <a:ln/>
        </p:spPr>
        <p:txBody>
          <a:bodyPr wrap="square" lIns="0" tIns="0" rIns="0" bIns="0" rtlCol="0" anchor="ctr"/>
          <a:lstStyle/>
          <a:p>
            <a:pPr indent="0" marL="0">
              <a:lnSpc>
                <a:spcPct val="130000"/>
              </a:lnSpc>
              <a:buNone/>
            </a:pPr>
            <a:r>
              <a:rPr lang="en-US" sz="1100" dirty="0">
                <a:solidFill>
                  <a:srgbClr val="62727C"/>
                </a:solidFill>
                <a:latin typeface="Calibri" pitchFamily="34" charset="0"/>
                <a:ea typeface="Calibri" pitchFamily="34" charset="-122"/>
                <a:cs typeface="Calibri" pitchFamily="34" charset="-120"/>
              </a:rPr>
              <a:t>Onboard every state utility with full audit trails and offline-capable mobile app</a:t>
            </a:r>
            <a:endParaRPr lang="en-US" sz="1100" dirty="0"/>
          </a:p>
        </p:txBody>
      </p:sp>
      <p:sp>
        <p:nvSpPr>
          <p:cNvPr id="20" name="Text 18"/>
          <p:cNvSpPr/>
          <p:nvPr/>
        </p:nvSpPr>
        <p:spPr>
          <a:xfrm>
            <a:off x="11521440" y="6510528"/>
            <a:ext cx="548640" cy="274320"/>
          </a:xfrm>
          <a:prstGeom prst="rect">
            <a:avLst/>
          </a:prstGeom>
          <a:noFill/>
          <a:ln/>
        </p:spPr>
        <p:txBody>
          <a:bodyPr wrap="square" rtlCol="0" anchor="ctr"/>
          <a:lstStyle/>
          <a:p>
            <a:pPr algn="r" indent="0" marL="0">
              <a:buNone/>
            </a:pPr>
            <a:r>
              <a:rPr lang="en-US" sz="1000" dirty="0">
                <a:solidFill>
                  <a:srgbClr val="A7B0B8"/>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8242F"/>
        </a:solidFill>
      </p:bgPr>
    </p:bg>
    <p:spTree>
      <p:nvGrpSpPr>
        <p:cNvPr id="1" name=""/>
        <p:cNvGrpSpPr/>
        <p:nvPr/>
      </p:nvGrpSpPr>
      <p:grpSpPr>
        <a:xfrm>
          <a:off x="0" y="0"/>
          <a:ext cx="0" cy="0"/>
          <a:chOff x="0" y="0"/>
          <a:chExt cx="0" cy="0"/>
        </a:xfrm>
      </p:grpSpPr>
      <p:sp>
        <p:nvSpPr>
          <p:cNvPr id="2" name="Shape 0"/>
          <p:cNvSpPr/>
          <p:nvPr/>
        </p:nvSpPr>
        <p:spPr>
          <a:xfrm rot="1080000">
            <a:off x="7863840" y="-274320"/>
            <a:ext cx="0" cy="7406640"/>
          </a:xfrm>
          <a:prstGeom prst="line">
            <a:avLst/>
          </a:prstGeom>
          <a:noFill/>
          <a:ln w="12700">
            <a:solidFill>
              <a:srgbClr val="2E4152"/>
            </a:solidFill>
            <a:prstDash val="solid"/>
          </a:ln>
        </p:spPr>
      </p:sp>
      <p:sp>
        <p:nvSpPr>
          <p:cNvPr id="3" name="Shape 1"/>
          <p:cNvSpPr/>
          <p:nvPr/>
        </p:nvSpPr>
        <p:spPr>
          <a:xfrm rot="1080000">
            <a:off x="8641080" y="-274320"/>
            <a:ext cx="0" cy="7406640"/>
          </a:xfrm>
          <a:prstGeom prst="line">
            <a:avLst/>
          </a:prstGeom>
          <a:noFill/>
          <a:ln w="12700">
            <a:solidFill>
              <a:srgbClr val="2E4152"/>
            </a:solidFill>
            <a:prstDash val="solid"/>
          </a:ln>
        </p:spPr>
      </p:sp>
      <p:sp>
        <p:nvSpPr>
          <p:cNvPr id="4" name="Shape 2"/>
          <p:cNvSpPr/>
          <p:nvPr/>
        </p:nvSpPr>
        <p:spPr>
          <a:xfrm rot="1080000">
            <a:off x="9418320" y="-274320"/>
            <a:ext cx="0" cy="7406640"/>
          </a:xfrm>
          <a:prstGeom prst="line">
            <a:avLst/>
          </a:prstGeom>
          <a:noFill/>
          <a:ln w="12700">
            <a:solidFill>
              <a:srgbClr val="2E4152"/>
            </a:solidFill>
            <a:prstDash val="solid"/>
          </a:ln>
        </p:spPr>
      </p:sp>
      <p:sp>
        <p:nvSpPr>
          <p:cNvPr id="5" name="Shape 3"/>
          <p:cNvSpPr/>
          <p:nvPr/>
        </p:nvSpPr>
        <p:spPr>
          <a:xfrm rot="1080000">
            <a:off x="10195560" y="-274320"/>
            <a:ext cx="0" cy="7406640"/>
          </a:xfrm>
          <a:prstGeom prst="line">
            <a:avLst/>
          </a:prstGeom>
          <a:noFill/>
          <a:ln w="12700">
            <a:solidFill>
              <a:srgbClr val="2E4152"/>
            </a:solidFill>
            <a:prstDash val="solid"/>
          </a:ln>
        </p:spPr>
      </p:sp>
      <p:sp>
        <p:nvSpPr>
          <p:cNvPr id="6" name="Shape 4"/>
          <p:cNvSpPr/>
          <p:nvPr/>
        </p:nvSpPr>
        <p:spPr>
          <a:xfrm rot="1080000">
            <a:off x="10972800" y="-274320"/>
            <a:ext cx="0" cy="7406640"/>
          </a:xfrm>
          <a:prstGeom prst="line">
            <a:avLst/>
          </a:prstGeom>
          <a:noFill/>
          <a:ln w="12700">
            <a:solidFill>
              <a:srgbClr val="2E4152"/>
            </a:solidFill>
            <a:prstDash val="solid"/>
          </a:ln>
        </p:spPr>
      </p:sp>
      <p:sp>
        <p:nvSpPr>
          <p:cNvPr id="7" name="Shape 5"/>
          <p:cNvSpPr/>
          <p:nvPr/>
        </p:nvSpPr>
        <p:spPr>
          <a:xfrm rot="1080000">
            <a:off x="11750040" y="-274320"/>
            <a:ext cx="0" cy="7406640"/>
          </a:xfrm>
          <a:prstGeom prst="line">
            <a:avLst/>
          </a:prstGeom>
          <a:noFill/>
          <a:ln w="12700">
            <a:solidFill>
              <a:srgbClr val="2E4152"/>
            </a:solidFill>
            <a:prstDash val="solid"/>
          </a:ln>
        </p:spPr>
      </p:sp>
      <p:sp>
        <p:nvSpPr>
          <p:cNvPr id="8" name="Text 6"/>
          <p:cNvSpPr txBox="1"/>
          <p:nvPr/>
        </p:nvSpPr>
        <p:spPr>
          <a:xfrm>
            <a:off x="640080" y="2286000"/>
            <a:ext cx="8229600" cy="100584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9" name="Text 7"/>
          <p:cNvSpPr txBox="1"/>
          <p:nvPr/>
        </p:nvSpPr>
        <p:spPr>
          <a:xfrm>
            <a:off x="640080" y="3246120"/>
            <a:ext cx="7589520" cy="822960"/>
          </a:xfrm>
          <a:prstGeom prst="rect">
            <a:avLst/>
          </a:prstGeom>
          <a:noFill/>
          <a:ln/>
        </p:spPr>
        <p:txBody>
          <a:bodyPr wrap="square" lIns="0" tIns="0" rIns="0" bIns="0" rtlCol="0" anchor="ctr"/>
          <a:lstStyle/>
          <a:p>
            <a:pPr indent="0" marL="0">
              <a:lnSpc>
                <a:spcPct val="130000"/>
              </a:lnSpc>
              <a:buNone/>
            </a:pPr>
            <a:r>
              <a:rPr lang="en-US" sz="1400" dirty="0">
                <a:solidFill>
                  <a:srgbClr val="CFE0EA"/>
                </a:solidFill>
                <a:latin typeface="Calibri" pitchFamily="34" charset="0"/>
                <a:ea typeface="Calibri" pitchFamily="34" charset="-122"/>
                <a:cs typeface="Calibri" pitchFamily="34" charset="-120"/>
              </a:rPr>
              <a:t>NEXORA AI — Predictive AI for Asset Health, Maintenance, Workforce Management &amp; Citizen Complaint Resolution across India's power grid.</a:t>
            </a:r>
            <a:endParaRPr lang="en-US" sz="1400" dirty="0"/>
          </a:p>
        </p:txBody>
      </p:sp>
      <p:sp>
        <p:nvSpPr>
          <p:cNvPr id="10" name="Shape 8"/>
          <p:cNvSpPr/>
          <p:nvPr/>
        </p:nvSpPr>
        <p:spPr>
          <a:xfrm>
            <a:off x="640080" y="4389120"/>
            <a:ext cx="7589520" cy="0"/>
          </a:xfrm>
          <a:prstGeom prst="line">
            <a:avLst/>
          </a:prstGeom>
          <a:noFill/>
          <a:ln w="12700">
            <a:solidFill>
              <a:srgbClr val="334654"/>
            </a:solidFill>
            <a:prstDash val="solid"/>
          </a:ln>
        </p:spPr>
      </p:sp>
      <p:sp>
        <p:nvSpPr>
          <p:cNvPr id="11" name="Text 9"/>
          <p:cNvSpPr txBox="1"/>
          <p:nvPr/>
        </p:nvSpPr>
        <p:spPr>
          <a:xfrm>
            <a:off x="640080" y="4617720"/>
            <a:ext cx="1828800" cy="320040"/>
          </a:xfrm>
          <a:prstGeom prst="rect">
            <a:avLst/>
          </a:prstGeom>
          <a:noFill/>
          <a:ln/>
        </p:spPr>
        <p:txBody>
          <a:bodyPr wrap="square" lIns="0" tIns="0" rIns="0" bIns="0" rtlCol="0" anchor="ctr"/>
          <a:lstStyle/>
          <a:p>
            <a:pPr indent="0" marL="0">
              <a:buNone/>
            </a:pPr>
            <a:r>
              <a:rPr lang="en-US" sz="1100" b="1" spc="100" kern="0" dirty="0">
                <a:solidFill>
                  <a:srgbClr val="F5A623"/>
                </a:solidFill>
                <a:latin typeface="Calibri" pitchFamily="34" charset="0"/>
                <a:ea typeface="Calibri" pitchFamily="34" charset="-122"/>
                <a:cs typeface="Calibri" pitchFamily="34" charset="-120"/>
              </a:rPr>
              <a:t>TEAM</a:t>
            </a:r>
            <a:endParaRPr lang="en-US" sz="1100" dirty="0"/>
          </a:p>
        </p:txBody>
      </p:sp>
      <p:sp>
        <p:nvSpPr>
          <p:cNvPr id="12" name="Text 10"/>
          <p:cNvSpPr txBox="1"/>
          <p:nvPr/>
        </p:nvSpPr>
        <p:spPr>
          <a:xfrm>
            <a:off x="2468880" y="4617720"/>
            <a:ext cx="5943600" cy="32004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[Team Name]</a:t>
            </a:r>
            <a:endParaRPr lang="en-US" sz="1250" dirty="0"/>
          </a:p>
        </p:txBody>
      </p:sp>
      <p:sp>
        <p:nvSpPr>
          <p:cNvPr id="13" name="Text 11"/>
          <p:cNvSpPr txBox="1"/>
          <p:nvPr/>
        </p:nvSpPr>
        <p:spPr>
          <a:xfrm>
            <a:off x="640080" y="5001768"/>
            <a:ext cx="1828800" cy="320040"/>
          </a:xfrm>
          <a:prstGeom prst="rect">
            <a:avLst/>
          </a:prstGeom>
          <a:noFill/>
          <a:ln/>
        </p:spPr>
        <p:txBody>
          <a:bodyPr wrap="square" lIns="0" tIns="0" rIns="0" bIns="0" rtlCol="0" anchor="ctr"/>
          <a:lstStyle/>
          <a:p>
            <a:pPr indent="0" marL="0">
              <a:buNone/>
            </a:pPr>
            <a:r>
              <a:rPr lang="en-US" sz="1100" b="1" spc="100" kern="0" dirty="0">
                <a:solidFill>
                  <a:srgbClr val="F5A623"/>
                </a:solidFill>
                <a:latin typeface="Calibri" pitchFamily="34" charset="0"/>
                <a:ea typeface="Calibri" pitchFamily="34" charset="-122"/>
                <a:cs typeface="Calibri" pitchFamily="34" charset="-120"/>
              </a:rPr>
              <a:t>REPOSITORY</a:t>
            </a:r>
            <a:endParaRPr lang="en-US" sz="1100" dirty="0"/>
          </a:p>
        </p:txBody>
      </p:sp>
      <p:sp>
        <p:nvSpPr>
          <p:cNvPr id="14" name="Text 12"/>
          <p:cNvSpPr txBox="1"/>
          <p:nvPr/>
        </p:nvSpPr>
        <p:spPr>
          <a:xfrm>
            <a:off x="2468880" y="5001768"/>
            <a:ext cx="5943600" cy="32004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[GitHub repo link]</a:t>
            </a:r>
            <a:endParaRPr lang="en-US" sz="1250" dirty="0"/>
          </a:p>
        </p:txBody>
      </p:sp>
      <p:sp>
        <p:nvSpPr>
          <p:cNvPr id="15" name="Text 13"/>
          <p:cNvSpPr txBox="1"/>
          <p:nvPr/>
        </p:nvSpPr>
        <p:spPr>
          <a:xfrm>
            <a:off x="640080" y="5385816"/>
            <a:ext cx="1828800" cy="320040"/>
          </a:xfrm>
          <a:prstGeom prst="rect">
            <a:avLst/>
          </a:prstGeom>
          <a:noFill/>
          <a:ln/>
        </p:spPr>
        <p:txBody>
          <a:bodyPr wrap="square" lIns="0" tIns="0" rIns="0" bIns="0" rtlCol="0" anchor="ctr"/>
          <a:lstStyle/>
          <a:p>
            <a:pPr indent="0" marL="0">
              <a:buNone/>
            </a:pPr>
            <a:r>
              <a:rPr lang="en-US" sz="1100" b="1" spc="100" kern="0" dirty="0">
                <a:solidFill>
                  <a:srgbClr val="F5A623"/>
                </a:solidFill>
                <a:latin typeface="Calibri" pitchFamily="34" charset="0"/>
                <a:ea typeface="Calibri" pitchFamily="34" charset="-122"/>
                <a:cs typeface="Calibri" pitchFamily="34" charset="-120"/>
              </a:rPr>
              <a:t>DEMO</a:t>
            </a:r>
            <a:endParaRPr lang="en-US" sz="1100" dirty="0"/>
          </a:p>
        </p:txBody>
      </p:sp>
      <p:sp>
        <p:nvSpPr>
          <p:cNvPr id="16" name="Text 14"/>
          <p:cNvSpPr txBox="1"/>
          <p:nvPr/>
        </p:nvSpPr>
        <p:spPr>
          <a:xfrm>
            <a:off x="2468880" y="5385816"/>
            <a:ext cx="5943600" cy="32004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[Live demo / video link]</a:t>
            </a:r>
            <a:endParaRPr lang="en-US" sz="1250" dirty="0"/>
          </a:p>
        </p:txBody>
      </p:sp>
      <p:sp>
        <p:nvSpPr>
          <p:cNvPr id="17" name="Text 15"/>
          <p:cNvSpPr txBox="1"/>
          <p:nvPr/>
        </p:nvSpPr>
        <p:spPr>
          <a:xfrm>
            <a:off x="640080" y="5769864"/>
            <a:ext cx="1828800" cy="320040"/>
          </a:xfrm>
          <a:prstGeom prst="rect">
            <a:avLst/>
          </a:prstGeom>
          <a:noFill/>
          <a:ln/>
        </p:spPr>
        <p:txBody>
          <a:bodyPr wrap="square" lIns="0" tIns="0" rIns="0" bIns="0" rtlCol="0" anchor="ctr"/>
          <a:lstStyle/>
          <a:p>
            <a:pPr indent="0" marL="0">
              <a:buNone/>
            </a:pPr>
            <a:r>
              <a:rPr lang="en-US" sz="1100" b="1" spc="100" kern="0" dirty="0">
                <a:solidFill>
                  <a:srgbClr val="F5A623"/>
                </a:solidFill>
                <a:latin typeface="Calibri" pitchFamily="34" charset="0"/>
                <a:ea typeface="Calibri" pitchFamily="34" charset="-122"/>
                <a:cs typeface="Calibri" pitchFamily="34" charset="-120"/>
              </a:rPr>
              <a:t>CONTACT</a:t>
            </a:r>
            <a:endParaRPr lang="en-US" sz="1100" dirty="0"/>
          </a:p>
        </p:txBody>
      </p:sp>
      <p:sp>
        <p:nvSpPr>
          <p:cNvPr id="18" name="Text 16"/>
          <p:cNvSpPr txBox="1"/>
          <p:nvPr/>
        </p:nvSpPr>
        <p:spPr>
          <a:xfrm>
            <a:off x="2468880" y="5769864"/>
            <a:ext cx="5943600" cy="32004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support@nexora-ai.in</a:t>
            </a:r>
            <a:endParaRPr lang="en-US" sz="1250" dirty="0"/>
          </a:p>
        </p:txBody>
      </p:sp>
      <p:sp>
        <p:nvSpPr>
          <p:cNvPr id="19" name="Text 17"/>
          <p:cNvSpPr/>
          <p:nvPr/>
        </p:nvSpPr>
        <p:spPr>
          <a:xfrm>
            <a:off x="11521440" y="6510528"/>
            <a:ext cx="548640" cy="274320"/>
          </a:xfrm>
          <a:prstGeom prst="rect">
            <a:avLst/>
          </a:prstGeom>
          <a:noFill/>
          <a:ln/>
        </p:spPr>
        <p:txBody>
          <a:bodyPr wrap="square" rtlCol="0" anchor="ctr"/>
          <a:lstStyle/>
          <a:p>
            <a:pPr algn="r" indent="0" marL="0">
              <a:buNone/>
            </a:pPr>
            <a:r>
              <a:rPr lang="en-US" sz="1000" dirty="0">
                <a:solidFill>
                  <a:srgbClr val="8592A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NEXORA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NEXORA AI — Grid Outage Prediction &amp; Equipment Failure Advisor</dc:title>
  <dc:subject>PptxGenJS Presentation</dc:subject>
  <dc:creator>NEXORA AI Team</dc:creator>
  <cp:lastModifiedBy>NEXORA AI Team</cp:lastModifiedBy>
  <cp:revision>1</cp:revision>
  <dcterms:created xsi:type="dcterms:W3CDTF">2026-09-19T08:30:57Z</dcterms:created>
  <dcterms:modified xsi:type="dcterms:W3CDTF">2026-09-19T08:30:57Z</dcterms:modified>
</cp:coreProperties>
</file>